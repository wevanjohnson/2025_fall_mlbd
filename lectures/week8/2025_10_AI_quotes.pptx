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1032" r:id="rId2"/>
    <p:sldId id="1043" r:id="rId3"/>
    <p:sldId id="1069" r:id="rId4"/>
    <p:sldId id="1070" r:id="rId5"/>
    <p:sldId id="1071" r:id="rId6"/>
    <p:sldId id="1034" r:id="rId7"/>
    <p:sldId id="1033" r:id="rId8"/>
    <p:sldId id="1029" r:id="rId9"/>
    <p:sldId id="1035" r:id="rId10"/>
    <p:sldId id="1036" r:id="rId11"/>
    <p:sldId id="1037" r:id="rId12"/>
    <p:sldId id="1038" r:id="rId13"/>
    <p:sldId id="1039" r:id="rId14"/>
    <p:sldId id="1040" r:id="rId15"/>
    <p:sldId id="1041" r:id="rId16"/>
    <p:sldId id="1042" r:id="rId17"/>
    <p:sldId id="1068" r:id="rId18"/>
    <p:sldId id="1072" r:id="rId19"/>
    <p:sldId id="1019" r:id="rId20"/>
  </p:sldIdLst>
  <p:sldSz cx="9144000" cy="5143500" type="screen16x9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CE0026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24" autoAdjust="0"/>
    <p:restoredTop sz="96197" autoAdjust="0"/>
  </p:normalViewPr>
  <p:slideViewPr>
    <p:cSldViewPr snapToGrid="0">
      <p:cViewPr varScale="1">
        <p:scale>
          <a:sx n="340" d="100"/>
          <a:sy n="340" d="100"/>
        </p:scale>
        <p:origin x="54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182880" cy="18288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02A63-8238-CF49-95F6-4E73F04318D6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FB5D43-6794-0847-9F6F-8A7B2FD27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381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FB5D43-6794-0847-9F6F-8A7B2FD2733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627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115170"/>
            <a:ext cx="6400800" cy="1314450"/>
          </a:xfrm>
        </p:spPr>
        <p:txBody>
          <a:bodyPr/>
          <a:lstStyle>
            <a:lvl1pPr marL="0" indent="0" algn="ctr"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98339"/>
            <a:ext cx="7772400" cy="1102519"/>
          </a:xfrm>
        </p:spPr>
        <p:txBody>
          <a:bodyPr/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D6FC5D-4381-B541-9E3A-50CF02937B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165" y="461378"/>
            <a:ext cx="2813336" cy="891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857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8">
          <p15:clr>
            <a:srgbClr val="FBAE40"/>
          </p15:clr>
        </p15:guide>
        <p15:guide id="2" pos="264">
          <p15:clr>
            <a:srgbClr val="FBAE40"/>
          </p15:clr>
        </p15:guide>
        <p15:guide id="3" pos="16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488343-B159-074D-B355-B61FD1A20D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422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424AE8-78F8-144E-A4FE-553D35E590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83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6940"/>
            <a:ext cx="4038600" cy="31347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6941"/>
            <a:ext cx="4038600" cy="31430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EDA8B8-D04C-214E-83CE-5B60915F93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66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692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56741"/>
            <a:ext cx="4040188" cy="275517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37692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56741"/>
            <a:ext cx="4041775" cy="277188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5261A5-F588-D34E-A84B-E514DA90C9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707850"/>
            <a:ext cx="8229600" cy="6060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049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CC725B-9C86-6E43-AAF9-1A329DDB23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28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9A03EE-8AFD-D547-9E71-0BD0BE6F93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547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81022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681023"/>
            <a:ext cx="5111750" cy="39141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52561"/>
            <a:ext cx="3008313" cy="3042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1F1C61-654F-EF4C-B7CF-635108DFC6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978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751943"/>
            <a:ext cx="5486400" cy="27937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A5825F-7512-8045-B403-CF218AA201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80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E23BF7-9F5A-9E42-B502-689AC6A1E5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987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726878"/>
            <a:ext cx="2057400" cy="38165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726878"/>
            <a:ext cx="6019800" cy="38165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FA2D79-D5B9-9E44-BC26-5C4012EF6E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527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707850"/>
            <a:ext cx="8229600" cy="606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93650"/>
            <a:ext cx="8229600" cy="3184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558800"/>
            <a:ext cx="9144000" cy="6350"/>
          </a:xfrm>
          <a:prstGeom prst="line">
            <a:avLst/>
          </a:prstGeom>
          <a:ln w="3175" cmpd="sng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8263" y="137514"/>
            <a:ext cx="1385973" cy="37508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+mj-lt"/>
          <a:ea typeface="ヒラギノ角ゴ Pro W3" charset="0"/>
          <a:cs typeface="Geneva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  <a:ea typeface="ヒラギノ角ゴ Pro W3" charset="0"/>
          <a:cs typeface="Geneva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  <a:ea typeface="ヒラギノ角ゴ Pro W3" charset="0"/>
          <a:cs typeface="Geneva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  <a:ea typeface="ヒラギノ角ゴ Pro W3" charset="0"/>
          <a:cs typeface="Geneva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  <a:ea typeface="ヒラギノ角ゴ Pro W3" charset="0"/>
          <a:cs typeface="Geneva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200">
          <a:solidFill>
            <a:schemeClr val="tx2"/>
          </a:solidFill>
          <a:latin typeface="+mn-lt"/>
          <a:ea typeface="ヒラギノ角ゴ Pro W3" charset="0"/>
          <a:cs typeface="Geneva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2"/>
          </a:solidFill>
          <a:latin typeface="+mn-lt"/>
          <a:ea typeface="Geneva" charset="0"/>
          <a:cs typeface="Geneva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600">
          <a:solidFill>
            <a:schemeClr val="tx2"/>
          </a:solidFill>
          <a:latin typeface="+mn-lt"/>
          <a:ea typeface="Geneva" charset="0"/>
          <a:cs typeface="Geneva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2"/>
          </a:solidFill>
          <a:latin typeface="+mn-lt"/>
          <a:ea typeface="Geneva" charset="0"/>
          <a:cs typeface="Geneva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2"/>
          </a:solidFill>
          <a:latin typeface="+mn-lt"/>
          <a:ea typeface="Geneva" charset="0"/>
          <a:cs typeface="Geneva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rgbClr val="5F5F5F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rgbClr val="5F5F5F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rgbClr val="5F5F5F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rgbClr val="5F5F5F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5BC7B-4BF1-7622-423A-244875456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and Artificial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89A3C-AB89-CADA-08B2-341493BD7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Machine learning (ML) </a:t>
            </a:r>
            <a:r>
              <a:rPr lang="en-US" dirty="0"/>
              <a:t>is a computer’s way of learning from examples, and it is one of the most useful tools we have for the construction of </a:t>
            </a:r>
            <a:r>
              <a:rPr lang="en-US" i="1" dirty="0"/>
              <a:t>artificially intelligent </a:t>
            </a:r>
            <a:r>
              <a:rPr lang="en-US" dirty="0"/>
              <a:t>systems</a:t>
            </a:r>
          </a:p>
          <a:p>
            <a:endParaRPr lang="en-US" dirty="0"/>
          </a:p>
          <a:p>
            <a:r>
              <a:rPr lang="en-US" b="1" dirty="0"/>
              <a:t>Artificial intelligence (AI) </a:t>
            </a:r>
            <a:r>
              <a:rPr lang="en-US" dirty="0"/>
              <a:t>is a term used when machines or computers can </a:t>
            </a:r>
            <a:r>
              <a:rPr lang="en-US" u="sng" dirty="0"/>
              <a:t>mimic functions that humans </a:t>
            </a:r>
            <a:r>
              <a:rPr lang="en-US" dirty="0"/>
              <a:t>can do.</a:t>
            </a:r>
          </a:p>
        </p:txBody>
      </p:sp>
    </p:spTree>
    <p:extLst>
      <p:ext uri="{BB962C8B-B14F-4D97-AF65-F5344CB8AC3E}">
        <p14:creationId xmlns:p14="http://schemas.microsoft.com/office/powerpoint/2010/main" val="3325871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1603E-0ACC-D4CE-AA6E-5832CBC70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3AC02FD-9D46-B463-9A94-C3F81444A6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14537" y="1571476"/>
            <a:ext cx="6514924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1" u="none" strike="noStrike" cap="none" normalizeH="0" baseline="0" dirty="0">
                <a:ln>
                  <a:noFill/>
                </a:ln>
                <a:solidFill>
                  <a:srgbClr val="0C0C28"/>
                </a:solidFill>
                <a:effectLst/>
                <a:latin typeface="Inter"/>
              </a:rPr>
              <a:t>AI is not magic; it’s math.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rgbClr val="DC2D59"/>
              </a:solidFill>
              <a:effectLst/>
              <a:latin typeface="Inter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DC2D59"/>
              </a:solidFill>
              <a:effectLst/>
              <a:latin typeface="Inter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DC2D59"/>
                </a:solidFill>
                <a:effectLst/>
                <a:latin typeface="Inter"/>
              </a:rPr>
              <a:t>-Peter Norvig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259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B5243-1D13-2724-1ED2-65BD05B9D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4107B5F-8DD9-09E6-5339-BAFF259DF1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56163" y="1232922"/>
            <a:ext cx="563167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1" u="none" strike="noStrike" cap="none" normalizeH="0" baseline="0" dirty="0">
                <a:ln>
                  <a:noFill/>
                </a:ln>
                <a:solidFill>
                  <a:srgbClr val="0C0C28"/>
                </a:solidFill>
                <a:effectLst/>
                <a:latin typeface="Inter"/>
              </a:rPr>
              <a:t>AI will not replace us,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1" u="none" strike="noStrike" cap="none" normalizeH="0" baseline="0" dirty="0">
                <a:ln>
                  <a:noFill/>
                </a:ln>
                <a:solidFill>
                  <a:srgbClr val="0C0C28"/>
                </a:solidFill>
                <a:effectLst/>
                <a:latin typeface="Inter"/>
              </a:rPr>
              <a:t>it will amplify us."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DC2D59"/>
              </a:solidFill>
              <a:effectLst/>
              <a:latin typeface="Inter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DC2D59"/>
                </a:solidFill>
                <a:effectLst/>
                <a:latin typeface="Inter"/>
              </a:rPr>
              <a:t>-Pedro Domingos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007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AF749-5D2D-9529-277F-26498A0B6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1019979-BA99-E38F-6034-284A892F7E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38580" y="1417588"/>
            <a:ext cx="646683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1" u="none" strike="noStrike" cap="none" normalizeH="0" baseline="0" dirty="0">
                <a:ln>
                  <a:noFill/>
                </a:ln>
                <a:solidFill>
                  <a:srgbClr val="0C0C28"/>
                </a:solidFill>
                <a:effectLst/>
                <a:latin typeface="Inter"/>
              </a:rPr>
              <a:t>With great power comes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1" u="none" strike="noStrike" cap="none" normalizeH="0" baseline="0" dirty="0">
                <a:ln>
                  <a:noFill/>
                </a:ln>
                <a:solidFill>
                  <a:srgbClr val="0C0C28"/>
                </a:solidFill>
                <a:effectLst/>
                <a:latin typeface="Inter"/>
              </a:rPr>
              <a:t>great responsibility.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DC2D59"/>
                </a:solidFill>
                <a:effectLst/>
                <a:latin typeface="Inter"/>
              </a:rPr>
              <a:t>-Uncle Ben, Spiderman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161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5BC7B-4BF1-7622-423A-244875456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and Artificial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89A3C-AB89-CADA-08B2-341493BD7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Machine learning (ML) </a:t>
            </a:r>
            <a:r>
              <a:rPr lang="en-US" dirty="0"/>
              <a:t>is a computer’s way of learning from examples, and it is one of the most useful tools we have for the construction of </a:t>
            </a:r>
            <a:r>
              <a:rPr lang="en-US" i="1" dirty="0"/>
              <a:t>artificially intelligent </a:t>
            </a:r>
            <a:r>
              <a:rPr lang="en-US" dirty="0"/>
              <a:t>systems</a:t>
            </a:r>
          </a:p>
          <a:p>
            <a:endParaRPr lang="en-US" dirty="0"/>
          </a:p>
          <a:p>
            <a:r>
              <a:rPr lang="en-US" b="1" dirty="0"/>
              <a:t>Artificial intelligence (AI) </a:t>
            </a:r>
            <a:r>
              <a:rPr lang="en-US" dirty="0"/>
              <a:t>is a term used when machines or computers can </a:t>
            </a:r>
            <a:r>
              <a:rPr lang="en-US" u="sng" dirty="0"/>
              <a:t>mimic functions that humans </a:t>
            </a:r>
            <a:r>
              <a:rPr lang="en-US" dirty="0"/>
              <a:t>can do.</a:t>
            </a:r>
          </a:p>
        </p:txBody>
      </p:sp>
    </p:spTree>
    <p:extLst>
      <p:ext uri="{BB962C8B-B14F-4D97-AF65-F5344CB8AC3E}">
        <p14:creationId xmlns:p14="http://schemas.microsoft.com/office/powerpoint/2010/main" val="1844353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DC36-A93C-4039-19F1-FCBD257C7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Biological Nerve Cells</a:t>
            </a:r>
          </a:p>
        </p:txBody>
      </p:sp>
      <p:pic>
        <p:nvPicPr>
          <p:cNvPr id="5" name="Content Placeholder 4" descr="A diagram of a nerve cell&#10;&#10;AI-generated content may be incorrect.">
            <a:extLst>
              <a:ext uri="{FF2B5EF4-FFF2-40B4-BE49-F238E27FC236}">
                <a16:creationId xmlns:a16="http://schemas.microsoft.com/office/drawing/2014/main" id="{E3A7060B-4248-ED63-719A-93D85DF6B8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53" y="1589649"/>
            <a:ext cx="9021289" cy="2846001"/>
          </a:xfrm>
        </p:spPr>
      </p:pic>
    </p:spTree>
    <p:extLst>
      <p:ext uri="{BB962C8B-B14F-4D97-AF65-F5344CB8AC3E}">
        <p14:creationId xmlns:p14="http://schemas.microsoft.com/office/powerpoint/2010/main" val="1639145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CB06D-6C58-D576-A22A-16ABD998A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E36B0-1586-0675-C124-98FBC0235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human brain consists of billions of neural cells that process information. </a:t>
            </a:r>
          </a:p>
          <a:p>
            <a:r>
              <a:rPr lang="en-US" dirty="0"/>
              <a:t>Each neural cell is a simple processing system. </a:t>
            </a:r>
          </a:p>
          <a:p>
            <a:r>
              <a:rPr lang="en-US" dirty="0"/>
              <a:t>The interconnected web of neurons, a </a:t>
            </a:r>
            <a:r>
              <a:rPr lang="en-US" b="1" dirty="0"/>
              <a:t>biological neural network</a:t>
            </a:r>
            <a:r>
              <a:rPr lang="en-US" dirty="0"/>
              <a:t>, transmits information through electrical signals from neuron to neuron.</a:t>
            </a:r>
          </a:p>
        </p:txBody>
      </p:sp>
    </p:spTree>
    <p:extLst>
      <p:ext uri="{BB962C8B-B14F-4D97-AF65-F5344CB8AC3E}">
        <p14:creationId xmlns:p14="http://schemas.microsoft.com/office/powerpoint/2010/main" val="3100556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6C1D4-025A-5385-88BD-829046C41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ircle with lines and letters&#10;&#10;AI-generated content may be incorrect.">
            <a:extLst>
              <a:ext uri="{FF2B5EF4-FFF2-40B4-BE49-F238E27FC236}">
                <a16:creationId xmlns:a16="http://schemas.microsoft.com/office/drawing/2014/main" id="{3F916938-CD6D-1BFC-7A12-71337A863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666964"/>
            <a:ext cx="7772400" cy="43321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E21AD9-CF7B-D26C-79C2-CF2D86177184}"/>
              </a:ext>
            </a:extLst>
          </p:cNvPr>
          <p:cNvSpPr txBox="1"/>
          <p:nvPr/>
        </p:nvSpPr>
        <p:spPr>
          <a:xfrm>
            <a:off x="5794407" y="570711"/>
            <a:ext cx="1226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(1944)</a:t>
            </a:r>
          </a:p>
        </p:txBody>
      </p:sp>
    </p:spTree>
    <p:extLst>
      <p:ext uri="{BB962C8B-B14F-4D97-AF65-F5344CB8AC3E}">
        <p14:creationId xmlns:p14="http://schemas.microsoft.com/office/powerpoint/2010/main" val="512040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A2D65-9396-386C-B874-ACCD79565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McCullough-Pitts Neuron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562BE-C0FC-2A5B-EB2B-A45C844B8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McCullough and Pitts showed was that a neural net could compute any function that a digital computer could. </a:t>
            </a:r>
          </a:p>
          <a:p>
            <a:endParaRPr lang="en-US" dirty="0"/>
          </a:p>
          <a:p>
            <a:r>
              <a:rPr lang="en-US" dirty="0"/>
              <a:t>The result was more neuroscience than computer science </a:t>
            </a:r>
          </a:p>
          <a:p>
            <a:endParaRPr lang="en-US" dirty="0"/>
          </a:p>
          <a:p>
            <a:r>
              <a:rPr lang="en-US" dirty="0"/>
              <a:t>The point was to suggest that the human brain could be thought of as a computing device.</a:t>
            </a:r>
          </a:p>
        </p:txBody>
      </p:sp>
    </p:spTree>
    <p:extLst>
      <p:ext uri="{BB962C8B-B14F-4D97-AF65-F5344CB8AC3E}">
        <p14:creationId xmlns:p14="http://schemas.microsoft.com/office/powerpoint/2010/main" val="1855125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4D7C-1F71-52A5-C0E8-AEAA0F9F9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Frank Rosenblatt (1957)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AF982-6762-D579-E988-0AC839573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Proposed the first trainable neural network, the </a:t>
            </a:r>
            <a:r>
              <a:rPr lang="en-US" b="1" dirty="0"/>
              <a:t>Perceptron</a:t>
            </a:r>
            <a:endParaRPr lang="en-US" dirty="0"/>
          </a:p>
          <a:p>
            <a:endParaRPr lang="en-US" dirty="0"/>
          </a:p>
          <a:p>
            <a:r>
              <a:rPr lang="en-US" dirty="0"/>
              <a:t>Design was much like that of the modern neural net, except that it had only one layer with adjustable weights and thresholds, sandwiched between input and output layers.</a:t>
            </a:r>
          </a:p>
          <a:p>
            <a:endParaRPr lang="en-US" dirty="0"/>
          </a:p>
          <a:p>
            <a:r>
              <a:rPr lang="en-US" dirty="0"/>
              <a:t>But Minsky and </a:t>
            </a:r>
            <a:r>
              <a:rPr lang="en-US" dirty="0" err="1"/>
              <a:t>Papert</a:t>
            </a:r>
            <a:r>
              <a:rPr lang="en-US" dirty="0"/>
              <a:t> (1959) published a book, which demonstrated that executing certain fairly common computations would be </a:t>
            </a:r>
            <a:r>
              <a:rPr lang="en-US" i="1" dirty="0"/>
              <a:t>impractically time consuming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1891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4E855-C045-DD44-E5E8-832537968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Perceptron model looked like this:</a:t>
            </a:r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E3A35CAF-4089-879D-5431-DEA4C9239C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72" y="1313879"/>
            <a:ext cx="8040055" cy="3749675"/>
          </a:xfrm>
        </p:spPr>
      </p:pic>
    </p:spTree>
    <p:extLst>
      <p:ext uri="{BB962C8B-B14F-4D97-AF65-F5344CB8AC3E}">
        <p14:creationId xmlns:p14="http://schemas.microsoft.com/office/powerpoint/2010/main" val="3564509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61B37-37D2-B40E-6375-9D050DF4F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7850"/>
            <a:ext cx="8588326" cy="606029"/>
          </a:xfrm>
        </p:spPr>
        <p:txBody>
          <a:bodyPr/>
          <a:lstStyle/>
          <a:p>
            <a:r>
              <a:rPr lang="en-US" dirty="0"/>
              <a:t>Modern Neural Networks: Multi-layer </a:t>
            </a:r>
            <a:r>
              <a:rPr lang="en-US" dirty="0" err="1"/>
              <a:t>Perceptrons</a:t>
            </a:r>
            <a:endParaRPr lang="en-US" dirty="0"/>
          </a:p>
        </p:txBody>
      </p:sp>
      <p:pic>
        <p:nvPicPr>
          <p:cNvPr id="5" name="Content Placeholder 4" descr="A diagram of a network&#10;&#10;AI-generated content may be incorrect.">
            <a:extLst>
              <a:ext uri="{FF2B5EF4-FFF2-40B4-BE49-F238E27FC236}">
                <a16:creationId xmlns:a16="http://schemas.microsoft.com/office/drawing/2014/main" id="{EE3DA91D-2011-3671-B8E5-E3B26019BE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5" y="1268896"/>
            <a:ext cx="9079489" cy="3874604"/>
          </a:xfrm>
        </p:spPr>
      </p:pic>
    </p:spTree>
    <p:extLst>
      <p:ext uri="{BB962C8B-B14F-4D97-AF65-F5344CB8AC3E}">
        <p14:creationId xmlns:p14="http://schemas.microsoft.com/office/powerpoint/2010/main" val="1842146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34755-F6E9-E324-1F17-190E12D2F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A3A3B-C1A1-7843-B0FC-70B5B8604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7850"/>
            <a:ext cx="8588326" cy="606029"/>
          </a:xfrm>
        </p:spPr>
        <p:txBody>
          <a:bodyPr/>
          <a:lstStyle/>
          <a:p>
            <a:r>
              <a:rPr lang="en-US" dirty="0"/>
              <a:t>Modern Neural Networks: Multi-layer </a:t>
            </a:r>
            <a:r>
              <a:rPr lang="en-US" dirty="0" err="1"/>
              <a:t>Perceptrons</a:t>
            </a:r>
            <a:endParaRPr lang="en-US" dirty="0"/>
          </a:p>
        </p:txBody>
      </p:sp>
      <p:pic>
        <p:nvPicPr>
          <p:cNvPr id="7" name="Content Placeholder 6" descr="A diagram of a network&#10;&#10;AI-generated content may be incorrect.">
            <a:extLst>
              <a:ext uri="{FF2B5EF4-FFF2-40B4-BE49-F238E27FC236}">
                <a16:creationId xmlns:a16="http://schemas.microsoft.com/office/drawing/2014/main" id="{27115F80-0AF0-1E24-D219-5B05917024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60" y="1210945"/>
            <a:ext cx="7808279" cy="3932555"/>
          </a:xfrm>
        </p:spPr>
      </p:pic>
    </p:spTree>
    <p:extLst>
      <p:ext uri="{BB962C8B-B14F-4D97-AF65-F5344CB8AC3E}">
        <p14:creationId xmlns:p14="http://schemas.microsoft.com/office/powerpoint/2010/main" val="3843036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901BF-1115-DFCF-6D61-8E22499E0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 Rule: When will I ever use this??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70240BB-64AB-4DD9-9349-2EAD63D168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0731" y="1313879"/>
            <a:ext cx="5782537" cy="3855024"/>
          </a:xfrm>
        </p:spPr>
      </p:pic>
    </p:spTree>
    <p:extLst>
      <p:ext uri="{BB962C8B-B14F-4D97-AF65-F5344CB8AC3E}">
        <p14:creationId xmlns:p14="http://schemas.microsoft.com/office/powerpoint/2010/main" val="1766307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9DE72-BFD5-DE6B-7486-73AE6EFF2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692BA-2A01-DCAD-4CA4-FD2B8AEAC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 Rule: When will I ever use this??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9815AB1-E021-CED9-B529-4C565D29D0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847604"/>
            <a:ext cx="8918917" cy="2912300"/>
          </a:xfrm>
        </p:spPr>
      </p:pic>
    </p:spTree>
    <p:extLst>
      <p:ext uri="{BB962C8B-B14F-4D97-AF65-F5344CB8AC3E}">
        <p14:creationId xmlns:p14="http://schemas.microsoft.com/office/powerpoint/2010/main" val="525943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84CBB-8496-3259-4019-31EC52D41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7850"/>
            <a:ext cx="8668088" cy="606029"/>
          </a:xfrm>
        </p:spPr>
        <p:txBody>
          <a:bodyPr/>
          <a:lstStyle/>
          <a:p>
            <a:r>
              <a:rPr lang="en-US" dirty="0"/>
              <a:t>Chain Rule: Backward Propagation in Neural Nets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7CBFAC-D419-2786-35FA-6BBA9B7E9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7171" y="1520023"/>
            <a:ext cx="7233248" cy="3291128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7F3244C-54BB-9354-818B-51FF40957D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15547" y="1520023"/>
            <a:ext cx="3309741" cy="3178586"/>
          </a:xfrm>
        </p:spPr>
      </p:pic>
    </p:spTree>
    <p:extLst>
      <p:ext uri="{BB962C8B-B14F-4D97-AF65-F5344CB8AC3E}">
        <p14:creationId xmlns:p14="http://schemas.microsoft.com/office/powerpoint/2010/main" val="4119483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18A0C-487F-1791-22F8-E26055429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BE1FE-CFE9-7ECD-F88A-9E365947D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8200" y="-40879"/>
            <a:ext cx="8668088" cy="606029"/>
          </a:xfrm>
        </p:spPr>
        <p:txBody>
          <a:bodyPr/>
          <a:lstStyle/>
          <a:p>
            <a:r>
              <a:rPr lang="en-US" dirty="0"/>
              <a:t>Chain Rule makes LLMs Possible</a:t>
            </a:r>
          </a:p>
        </p:txBody>
      </p:sp>
      <p:pic>
        <p:nvPicPr>
          <p:cNvPr id="8" name="Content Placeholder 7" descr="A diagram of a process&#10;&#10;AI-generated content may be incorrect.">
            <a:extLst>
              <a:ext uri="{FF2B5EF4-FFF2-40B4-BE49-F238E27FC236}">
                <a16:creationId xmlns:a16="http://schemas.microsoft.com/office/drawing/2014/main" id="{558C566F-3860-A740-8836-C89910A258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08" y="613304"/>
            <a:ext cx="8298531" cy="4530196"/>
          </a:xfrm>
        </p:spPr>
      </p:pic>
    </p:spTree>
    <p:extLst>
      <p:ext uri="{BB962C8B-B14F-4D97-AF65-F5344CB8AC3E}">
        <p14:creationId xmlns:p14="http://schemas.microsoft.com/office/powerpoint/2010/main" val="4269497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1603E-0ACC-D4CE-AA6E-5832CBC70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3AC02FD-9D46-B463-9A94-C3F81444A6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14537" y="1571476"/>
            <a:ext cx="6514924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1" u="none" strike="noStrike" cap="none" normalizeH="0" baseline="0" dirty="0">
                <a:ln>
                  <a:noFill/>
                </a:ln>
                <a:solidFill>
                  <a:srgbClr val="0C0C28"/>
                </a:solidFill>
                <a:effectLst/>
                <a:latin typeface="Inter"/>
              </a:rPr>
              <a:t>AI is not magic; it’s math.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rgbClr val="DC2D59"/>
              </a:solidFill>
              <a:effectLst/>
              <a:latin typeface="Inter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DC2D59"/>
              </a:solidFill>
              <a:effectLst/>
              <a:latin typeface="Inter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DC2D59"/>
                </a:solidFill>
                <a:effectLst/>
                <a:latin typeface="Inter"/>
              </a:rPr>
              <a:t>-Peter Norvig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137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6" descr="A picture containing outdoor, adventure, climbing, mountain&#10;&#10;Description automatically generated">
            <a:extLst>
              <a:ext uri="{FF2B5EF4-FFF2-40B4-BE49-F238E27FC236}">
                <a16:creationId xmlns:a16="http://schemas.microsoft.com/office/drawing/2014/main" id="{A3D67252-344E-0128-41B1-795E8EBD13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4" y="-480060"/>
            <a:ext cx="9141926" cy="68854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0218A0-72EC-20F9-D6F9-BBC2FC158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352" y="4461935"/>
            <a:ext cx="5797296" cy="537632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sz="36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101649406"/>
      </p:ext>
    </p:extLst>
  </p:cSld>
  <p:clrMapOvr>
    <a:masterClrMapping/>
  </p:clrMapOvr>
</p:sld>
</file>

<file path=ppt/theme/theme1.xml><?xml version="1.0" encoding="utf-8"?>
<a:theme xmlns:a="http://schemas.openxmlformats.org/drawingml/2006/main" name="RU_template_FASN_16x9 widescreen">
  <a:themeElements>
    <a:clrScheme name="RU_Template_Verdana_G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RU_Template_Verdana_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RU_Template_Verdana_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U_Template_Verdana_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U_Template_Verdana_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U_Template_Verdana_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U_Template_Verdana_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U_Template_Verdana_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U_Template_Verdana_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U_Template_Verdana_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U_Template_Verdana_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U_Template_Verdana_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U_Template_Verdana_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U_Template_Verdana_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RU_template_CCAS_16;9" id="{DD4A8B92-6D83-094F-956C-CEF9C024824F}" vid="{1B19C7C8-82CB-E54C-94DC-BFAC1FBCEE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{475C37C6-E464-DB4D-B155-98CEC92926B2}tf10001120</Template>
  <TotalTime>4217</TotalTime>
  <Words>389</Words>
  <Application>Microsoft Macintosh PowerPoint</Application>
  <PresentationFormat>On-screen Show (16:9)</PresentationFormat>
  <Paragraphs>48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Inter</vt:lpstr>
      <vt:lpstr>RU_template_FASN_16x9 widescreen</vt:lpstr>
      <vt:lpstr>Machine Learning and Artificial Intelligence</vt:lpstr>
      <vt:lpstr>PowerPoint Presentation</vt:lpstr>
      <vt:lpstr>PowerPoint Presentation</vt:lpstr>
      <vt:lpstr>PowerPoint Presentation</vt:lpstr>
      <vt:lpstr>Machine Learning and Artificial Intelligence</vt:lpstr>
      <vt:lpstr>Biological Nerve Cells</vt:lpstr>
      <vt:lpstr>Neural Networks</vt:lpstr>
      <vt:lpstr>PowerPoint Presentation</vt:lpstr>
      <vt:lpstr>McCullough-Pitts Neuron</vt:lpstr>
      <vt:lpstr>Frank Rosenblatt (1957)</vt:lpstr>
      <vt:lpstr>The Perceptron model looked like this:</vt:lpstr>
      <vt:lpstr>Modern Neural Networks: Multi-layer Perceptrons</vt:lpstr>
      <vt:lpstr>Modern Neural Networks: Multi-layer Perceptrons</vt:lpstr>
      <vt:lpstr>Chain Rule: When will I ever use this??</vt:lpstr>
      <vt:lpstr>Chain Rule: When will I ever use this??</vt:lpstr>
      <vt:lpstr>Chain Rule: Backward Propagation in Neural Nets</vt:lpstr>
      <vt:lpstr>Chain Rule makes LLMs Possible</vt:lpstr>
      <vt:lpstr>PowerPoint Presentation</vt:lpstr>
      <vt:lpstr>Thank you!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eburris</dc:creator>
  <cp:lastModifiedBy>Evan Johnson</cp:lastModifiedBy>
  <cp:revision>113</cp:revision>
  <cp:lastPrinted>2019-07-16T15:38:20Z</cp:lastPrinted>
  <dcterms:created xsi:type="dcterms:W3CDTF">2012-05-15T15:26:04Z</dcterms:created>
  <dcterms:modified xsi:type="dcterms:W3CDTF">2025-12-02T19:02:41Z</dcterms:modified>
</cp:coreProperties>
</file>
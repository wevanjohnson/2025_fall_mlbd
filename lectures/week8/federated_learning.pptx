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1"/>
  </p:sldMasterIdLst>
  <p:notesMasterIdLst>
    <p:notesMasterId r:id="rId27"/>
  </p:notesMasterIdLst>
  <p:sldIdLst>
    <p:sldId id="256" r:id="rId2"/>
    <p:sldId id="257" r:id="rId3"/>
    <p:sldId id="259" r:id="rId4"/>
    <p:sldId id="1047" r:id="rId5"/>
    <p:sldId id="269" r:id="rId6"/>
    <p:sldId id="260" r:id="rId7"/>
    <p:sldId id="261" r:id="rId8"/>
    <p:sldId id="270" r:id="rId9"/>
    <p:sldId id="264" r:id="rId10"/>
    <p:sldId id="1049" r:id="rId11"/>
    <p:sldId id="1051" r:id="rId12"/>
    <p:sldId id="1052" r:id="rId13"/>
    <p:sldId id="1050" r:id="rId14"/>
    <p:sldId id="267" r:id="rId15"/>
    <p:sldId id="1053" r:id="rId16"/>
    <p:sldId id="1054" r:id="rId17"/>
    <p:sldId id="1055" r:id="rId18"/>
    <p:sldId id="1056" r:id="rId19"/>
    <p:sldId id="271" r:id="rId20"/>
    <p:sldId id="272" r:id="rId21"/>
    <p:sldId id="1057" r:id="rId22"/>
    <p:sldId id="1058" r:id="rId23"/>
    <p:sldId id="1059" r:id="rId24"/>
    <p:sldId id="1060" r:id="rId25"/>
    <p:sldId id="1048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C8E9"/>
    <a:srgbClr val="FF6B54"/>
    <a:srgbClr val="FFAA54"/>
    <a:srgbClr val="FFCC54"/>
    <a:srgbClr val="4FF080"/>
    <a:srgbClr val="617CEC"/>
    <a:srgbClr val="E90006"/>
    <a:srgbClr val="BDB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5" autoAdjust="0"/>
    <p:restoredTop sz="93542"/>
  </p:normalViewPr>
  <p:slideViewPr>
    <p:cSldViewPr snapToGrid="0">
      <p:cViewPr>
        <p:scale>
          <a:sx n="185" d="100"/>
          <a:sy n="185" d="100"/>
        </p:scale>
        <p:origin x="104" y="-3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D60D7-D23F-4C32-9513-FE0612E628DA}" type="datetimeFigureOut">
              <a:rPr lang="en-US" smtClean="0"/>
              <a:t>11/23/25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C4325-EA24-4478-A390-CC920388B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6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199F6932-00EB-E2C4-575B-E63A39EA91ED}"/>
              </a:ext>
            </a:extLst>
          </p:cNvPr>
          <p:cNvSpPr>
            <a:spLocks noChangeAspect="1"/>
          </p:cNvSpPr>
          <p:nvPr userDrawn="1"/>
        </p:nvSpPr>
        <p:spPr>
          <a:xfrm>
            <a:off x="2754921" y="1773238"/>
            <a:ext cx="1828800" cy="1828800"/>
          </a:xfrm>
          <a:prstGeom prst="fra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22F33773-EC2C-1194-7E1F-58E669D99E1F}"/>
              </a:ext>
            </a:extLst>
          </p:cNvPr>
          <p:cNvSpPr>
            <a:spLocks noChangeAspect="1"/>
          </p:cNvSpPr>
          <p:nvPr/>
        </p:nvSpPr>
        <p:spPr>
          <a:xfrm>
            <a:off x="2754921" y="1773238"/>
            <a:ext cx="1828800" cy="1828800"/>
          </a:xfrm>
          <a:prstGeom prst="fra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4F7BA-C9F0-5322-A51D-7D15E1022E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6890" y="2458196"/>
            <a:ext cx="6963598" cy="2098990"/>
          </a:xfrm>
        </p:spPr>
        <p:txBody>
          <a:bodyPr anchor="t">
            <a:noAutofit/>
          </a:bodyPr>
          <a:lstStyle>
            <a:lvl1pPr algn="l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7C23-9AEF-9849-FD56-9589BF0F3F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6890" y="4586100"/>
            <a:ext cx="4782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7A0CB9-E869-C311-9E05-070C014DD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30" y="6081284"/>
            <a:ext cx="2457985" cy="71517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97D1F649-A315-F509-C79C-5E56888464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388DCD-70F1-AEC4-1CF3-95CA909A9BBB}"/>
              </a:ext>
            </a:extLst>
          </p:cNvPr>
          <p:cNvSpPr/>
          <p:nvPr/>
        </p:nvSpPr>
        <p:spPr>
          <a:xfrm>
            <a:off x="1" y="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C82FF-CB2D-17F3-F61E-1572C4C37957}"/>
              </a:ext>
            </a:extLst>
          </p:cNvPr>
          <p:cNvSpPr/>
          <p:nvPr/>
        </p:nvSpPr>
        <p:spPr>
          <a:xfrm>
            <a:off x="11051320" y="297180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924DEC1-D136-0FD4-561E-A06EE53E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E76AE-521C-4A0B-A97E-434022891582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8AA389E-3303-E109-E4B2-93F6117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0BE827-6CA8-DF41-D9C3-CCAC788F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897E7-4798-7F71-C4BF-885AB660E0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30" y="6081284"/>
            <a:ext cx="2457985" cy="715170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DB56CAD8-5732-69C7-2C9C-32AE07CCE4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873DCC-59A7-5323-F36A-96C1DC832289}"/>
              </a:ext>
            </a:extLst>
          </p:cNvPr>
          <p:cNvSpPr/>
          <p:nvPr userDrawn="1"/>
        </p:nvSpPr>
        <p:spPr>
          <a:xfrm>
            <a:off x="1" y="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578A4B-19F2-501D-94E0-F555B37AD049}"/>
              </a:ext>
            </a:extLst>
          </p:cNvPr>
          <p:cNvSpPr/>
          <p:nvPr userDrawn="1"/>
        </p:nvSpPr>
        <p:spPr>
          <a:xfrm>
            <a:off x="11051320" y="297180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050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animBg="1"/>
      <p:bldP spid="15" grpId="0" animBg="1"/>
      <p:bldP spid="16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2F58-D0E2-29F8-2713-498F0D8FAF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7450" y="289730"/>
            <a:ext cx="10406349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81BB-9D08-1FD8-8757-7CDD50EE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274320" indent="-273050">
              <a:buFontTx/>
              <a:buBlip>
                <a:blip r:embed="rId3"/>
              </a:buBlip>
              <a:defRPr/>
            </a:lvl1pPr>
            <a:lvl2pPr marL="547688" indent="-273050">
              <a:defRPr/>
            </a:lvl2pPr>
            <a:lvl3pPr marL="822325" indent="-273050">
              <a:defRPr/>
            </a:lvl3pPr>
            <a:lvl4pPr marL="1096963" indent="-273050">
              <a:defRPr/>
            </a:lvl4pPr>
            <a:lvl5pPr marL="1096963" indent="-27305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83FAF9-66A4-287B-3055-8A060FCD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183158"/>
            <a:ext cx="2743200" cy="365125"/>
          </a:xfrm>
        </p:spPr>
        <p:txBody>
          <a:bodyPr/>
          <a:lstStyle/>
          <a:p>
            <a:fld id="{4F368CAC-FB98-45FA-B0CE-0A705A55FD93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903FB-AA21-B8C0-9691-C336BEB3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183158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7B026-CFCA-70AF-1B06-D2CBC608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3CFA61F-8584-7ED5-969A-65729174A3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EFF801-058D-0DD2-2FF0-D5B9A802BBCC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13AD4D04-7F59-5232-B873-6420EF0764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384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ame 14">
            <a:extLst>
              <a:ext uri="{FF2B5EF4-FFF2-40B4-BE49-F238E27FC236}">
                <a16:creationId xmlns:a16="http://schemas.microsoft.com/office/drawing/2014/main" id="{57CAA458-97CE-E47C-A228-8289A7A7C52D}"/>
              </a:ext>
            </a:extLst>
          </p:cNvPr>
          <p:cNvSpPr>
            <a:spLocks noChangeAspect="1"/>
          </p:cNvSpPr>
          <p:nvPr/>
        </p:nvSpPr>
        <p:spPr>
          <a:xfrm>
            <a:off x="2754921" y="1773238"/>
            <a:ext cx="1828800" cy="1828800"/>
          </a:xfrm>
          <a:prstGeom prst="fra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1F727340-20A8-476A-77F1-18E0E9B0E8D3}"/>
              </a:ext>
            </a:extLst>
          </p:cNvPr>
          <p:cNvSpPr>
            <a:spLocks noChangeAspect="1"/>
          </p:cNvSpPr>
          <p:nvPr userDrawn="1"/>
        </p:nvSpPr>
        <p:spPr>
          <a:xfrm>
            <a:off x="2754921" y="1773238"/>
            <a:ext cx="1828800" cy="1828800"/>
          </a:xfrm>
          <a:prstGeom prst="fra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887D7-A400-13E1-E706-62B85C2472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6704" y="2459736"/>
            <a:ext cx="6967728" cy="2103120"/>
          </a:xfrm>
        </p:spPr>
        <p:txBody>
          <a:bodyPr anchor="t">
            <a:normAutofit/>
          </a:bodyPr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587B1-CF75-7F41-1000-9237021B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398312"/>
            <a:ext cx="2743200" cy="365125"/>
          </a:xfrm>
        </p:spPr>
        <p:txBody>
          <a:bodyPr/>
          <a:lstStyle/>
          <a:p>
            <a:fld id="{708ED80D-2977-4B08-B363-502A064C7B40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99847-4821-369F-59C0-F69F4E88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39831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1BFE8-DF6A-B910-87B5-388216C2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A1D21-D34F-B3B5-68E8-AF8EB3BE2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30" y="6081284"/>
            <a:ext cx="2457985" cy="715170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92D53F6-EDAE-7EC8-BB21-09E3F9607C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33839BE-7982-7356-0ED0-8C106B5CB303}"/>
              </a:ext>
            </a:extLst>
          </p:cNvPr>
          <p:cNvSpPr/>
          <p:nvPr/>
        </p:nvSpPr>
        <p:spPr>
          <a:xfrm rot="5400000">
            <a:off x="1372760" y="-137276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CAF043-8428-6112-DE42-D7F7CE4F115D}"/>
              </a:ext>
            </a:extLst>
          </p:cNvPr>
          <p:cNvSpPr/>
          <p:nvPr/>
        </p:nvSpPr>
        <p:spPr>
          <a:xfrm rot="16200000">
            <a:off x="9678560" y="4348163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BC011-CB99-F74F-E950-BC0CC729F8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46704" y="4590288"/>
            <a:ext cx="4785360" cy="107899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74FB6-4D68-22F8-CD01-14F54E02B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30" y="6081284"/>
            <a:ext cx="2457985" cy="715170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69ABF23-B547-A1F2-62DF-C533A84B83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EDCF3B-C8AF-C2B8-E343-D4B499D15037}"/>
              </a:ext>
            </a:extLst>
          </p:cNvPr>
          <p:cNvSpPr/>
          <p:nvPr userDrawn="1"/>
        </p:nvSpPr>
        <p:spPr>
          <a:xfrm rot="5400000">
            <a:off x="1372760" y="-1372760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831CB9-6E57-2F5D-E6E4-D1E6BFF0D225}"/>
              </a:ext>
            </a:extLst>
          </p:cNvPr>
          <p:cNvSpPr/>
          <p:nvPr userDrawn="1"/>
        </p:nvSpPr>
        <p:spPr>
          <a:xfrm rot="16200000">
            <a:off x="9678560" y="4348163"/>
            <a:ext cx="1140680" cy="388620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01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" grpId="0"/>
      <p:bldP spid="13" grpId="0" animBg="1"/>
      <p:bldP spid="14" grpId="0" animBg="1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8F3C-DDE4-EB0D-4465-CE2DF17C1B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89730"/>
            <a:ext cx="10402824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0792-22CE-C6BE-D3E6-CAD464162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1A579-8C00-D9E5-AB63-DC423A43D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9311CAF-B5FC-26FB-F0E7-D6DC94D5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398312"/>
            <a:ext cx="2743200" cy="365125"/>
          </a:xfrm>
        </p:spPr>
        <p:txBody>
          <a:bodyPr/>
          <a:lstStyle/>
          <a:p>
            <a:fld id="{F568B307-3B17-4FF3-8ACF-57D66AD6AFAF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D6FF5D6-68C7-DE59-8BB2-16C0855F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39831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263C92-EA90-594D-89C4-75D0468D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446477FD-213F-3679-C600-CBCCCAC0D3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E3B49A-78F0-2A23-29C4-4A7EB278BADA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3EB09DA1-EFB6-71C8-81F5-ECAFB15B85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35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E9A9-985D-75EB-8BE5-D3F8776657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89004"/>
            <a:ext cx="10404412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7779F-6C13-F907-5541-30DD52F8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19BE7-F528-B238-E613-49607EA10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8306C-25E7-B8E7-AF49-973C3CA79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4C54F-F6F8-3B38-8EE9-E9D5639F7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593F8DE-EE83-39E2-ECF3-93376D8027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407276"/>
            <a:ext cx="2743200" cy="365125"/>
          </a:xfrm>
        </p:spPr>
        <p:txBody>
          <a:bodyPr/>
          <a:lstStyle/>
          <a:p>
            <a:fld id="{4AA4CF59-B6BF-47C0-B829-B79314495FE0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E960C3E-E1C8-8A11-64E3-BB009E5E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407276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8E9B48-D788-3B3E-1DBD-71FBFB6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80DF8710-D278-7C0B-CFF5-4D2CCAEC74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2F9534-E715-0D10-C8FF-6DB57ADF8CE6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1B5BCE1A-5982-8D1E-7181-485ED1443A9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408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6220-9048-F11B-DE88-A070E007AD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2184" y="2157984"/>
            <a:ext cx="3252216" cy="179222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add</a:t>
            </a:r>
            <a:br>
              <a:rPr lang="en-US" dirty="0"/>
            </a:br>
            <a:r>
              <a:rPr lang="en-US" dirty="0"/>
              <a:t>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5BB8C-65AB-B771-1712-CB99DB690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05377"/>
            <a:ext cx="6172200" cy="52472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5503-2650-882F-1635-530855CE29E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72183" y="4087368"/>
            <a:ext cx="3252215" cy="187452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69A7AE-BF12-C019-36A1-05846586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8249958"/>
            <a:ext cx="2743200" cy="365125"/>
          </a:xfrm>
        </p:spPr>
        <p:txBody>
          <a:bodyPr/>
          <a:lstStyle/>
          <a:p>
            <a:fld id="{8FA46A08-3FC3-4192-810B-FC7560B8D92A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3CBCD6-0E57-79C5-8CF8-E8C8DE8C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8249958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497128-B115-0E5B-B566-F5C3F9D5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00C32A-880E-5966-FE59-16B6D089DA78}"/>
              </a:ext>
            </a:extLst>
          </p:cNvPr>
          <p:cNvSpPr/>
          <p:nvPr/>
        </p:nvSpPr>
        <p:spPr>
          <a:xfrm>
            <a:off x="1261364" y="2326933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B0B5C8CF-D356-EC9E-8312-D06D15C6B0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177E15-9CF7-4509-DEF5-1916F2171EBF}"/>
              </a:ext>
            </a:extLst>
          </p:cNvPr>
          <p:cNvSpPr/>
          <p:nvPr userDrawn="1"/>
        </p:nvSpPr>
        <p:spPr>
          <a:xfrm>
            <a:off x="1261364" y="2322576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565CE014-F620-C2E4-7B9C-1DE9A8DFEB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76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E1CD-81DD-69D9-39DB-F83ED2EF4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2184" y="2157984"/>
            <a:ext cx="3252216" cy="179222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add</a:t>
            </a:r>
            <a:br>
              <a:rPr lang="en-US" dirty="0"/>
            </a:br>
            <a:r>
              <a:rPr lang="en-US" dirty="0"/>
              <a:t>a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34C8C-F7E8-2C61-FA2B-4D2E13C308B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219636"/>
            <a:ext cx="6172200" cy="6418729"/>
          </a:xfrm>
          <a:prstGeom prst="roundRect">
            <a:avLst>
              <a:gd name="adj" fmla="val 2869"/>
            </a:avLst>
          </a:prstGeom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txBody>
          <a:bodyPr/>
          <a:lstStyle>
            <a:lvl1pPr marL="0" indent="0">
              <a:buNone/>
              <a:defRPr sz="3200">
                <a:effectLst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the icon below to add an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FB0E1-350F-E8CC-EAC9-4812AA95481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72183" y="4087368"/>
            <a:ext cx="3252215" cy="187452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4209E-A04E-3597-7325-70491D9C320E}"/>
              </a:ext>
            </a:extLst>
          </p:cNvPr>
          <p:cNvSpPr/>
          <p:nvPr/>
        </p:nvSpPr>
        <p:spPr>
          <a:xfrm>
            <a:off x="1261364" y="2326933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0CEEE11-77C2-61C4-4A61-2EFD399B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981017"/>
            <a:ext cx="2743200" cy="365125"/>
          </a:xfrm>
        </p:spPr>
        <p:txBody>
          <a:bodyPr/>
          <a:lstStyle/>
          <a:p>
            <a:fld id="{6DCED4D8-E9C5-47AB-85AA-4C0DB1EBDED8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3136F59-C806-5925-1027-0BFA2FD0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981017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DD84B2-2781-5B10-5F9E-60BA2DB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85E33971-429B-28B2-B250-82BE9C3F5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4A4D71-40EB-389A-D0D3-5534EDDF9093}"/>
              </a:ext>
            </a:extLst>
          </p:cNvPr>
          <p:cNvSpPr/>
          <p:nvPr userDrawn="1"/>
        </p:nvSpPr>
        <p:spPr>
          <a:xfrm>
            <a:off x="1261364" y="2326933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2A95FF67-379C-E9F1-7887-DFE66AE83A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048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C809-8937-5ABB-FEBD-B0238C56A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90398"/>
            <a:ext cx="10524888" cy="1105088"/>
          </a:xfrm>
        </p:spPr>
        <p:txBody>
          <a:bodyPr lIns="0" tIns="0" rIns="0" bIns="0" anchor="ctr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79602-216D-B56E-64B6-E674BB50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8070664"/>
            <a:ext cx="2743200" cy="365125"/>
          </a:xfrm>
        </p:spPr>
        <p:txBody>
          <a:bodyPr/>
          <a:lstStyle/>
          <a:p>
            <a:fld id="{FC1B846E-AD5A-42B9-9378-275A3550D5F2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D19BF-D979-A46B-6323-91B58DCA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80706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5E950-739F-B9A8-7516-EE22BCE4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2DED03-5156-22C2-79D6-C035C94027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395413"/>
            <a:ext cx="10524886" cy="558800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3E7A2AAD-579D-DA21-D049-0F236D3127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FFBF8-D8A3-C97A-396F-CCD99024E4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5320" y="2151063"/>
            <a:ext cx="10881360" cy="4457700"/>
          </a:xfrm>
          <a:prstGeom prst="roundRect">
            <a:avLst>
              <a:gd name="adj" fmla="val 4601"/>
            </a:avLst>
          </a:prstGeom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below to add an image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0A4AE-438D-5783-9437-2966411CBEAD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069A7712-75C1-79DD-C5D9-712C528C70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114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Image Table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9845-AC81-8970-0965-B196512D2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5" y="292608"/>
            <a:ext cx="10440465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1D954-D85F-2C10-7EB3-F0D65771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370328"/>
            <a:ext cx="2743200" cy="365125"/>
          </a:xfrm>
        </p:spPr>
        <p:txBody>
          <a:bodyPr/>
          <a:lstStyle/>
          <a:p>
            <a:fld id="{538C3BEA-D036-4505-AAA0-FA563F60D41C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CD78-6D8B-3962-F7DA-0A9743E9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370328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4973E-B212-36BF-3FC9-266349F5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368847-3F2C-E69F-1899-6B24737200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5" y="1399032"/>
            <a:ext cx="10440465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A4BF73-0B23-892F-7DC0-65D4AB8EDF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E537AFF-0622-75FE-F714-B38761A2B1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71432" y="2176272"/>
            <a:ext cx="2798064" cy="442569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a notes about the adjacent figure, image,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4F40A9D-F8AF-3A9B-1CD0-731B07AB12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22503" y="2160596"/>
            <a:ext cx="8454771" cy="444882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below to insert a figure, image, or table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5E8A5ED-FA2E-35ED-2DCE-0D492250CB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E91203-B25E-0CE0-9E44-FD2EAA600405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244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Image 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D1EB-B3E3-5257-0082-6573CBEAE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92608"/>
            <a:ext cx="10429448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1A76E-1375-E269-5FEA-D8B76872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550712"/>
            <a:ext cx="2743200" cy="365125"/>
          </a:xfrm>
        </p:spPr>
        <p:txBody>
          <a:bodyPr/>
          <a:lstStyle/>
          <a:p>
            <a:fld id="{8BDE0167-C68C-4470-A78F-080B4BE141F5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DA094-9D4C-085B-7A6F-74CBC845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55071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9FFA0-788E-7E05-AAC2-0275F17C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C96C7A0-538F-09A4-19B5-69996E06FF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DF5582-32A7-0073-468C-647762C5B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399032"/>
            <a:ext cx="10427302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EFF161-7791-38BC-3350-A6C33B96C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6275" y="2381251"/>
            <a:ext cx="10839450" cy="3962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below to insert a figure, image, or table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455720C5-5F67-E4A0-2776-0DF2F9FA97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540016-86BA-3210-60B8-980DEC15924E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526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6AF6-FC65-12E0-4036-BB5B0C80B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5" y="292608"/>
            <a:ext cx="9935305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10A82-E5B1-6911-DD79-06E25261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860359"/>
            <a:ext cx="2743200" cy="365125"/>
          </a:xfrm>
        </p:spPr>
        <p:txBody>
          <a:bodyPr/>
          <a:lstStyle/>
          <a:p>
            <a:fld id="{8B08C986-B026-4DC3-BAA1-685AB3D58911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65293-1099-811C-86EF-706EDD0A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86035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056CB-926A-6034-CD9E-553CA648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D7BBC88-D8BD-7293-9275-BFD048E8BD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CC6052-3EDC-7234-94EB-48535E30C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5" y="1399032"/>
            <a:ext cx="9935305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2B5F67-67F2-3C4B-5A7E-AC8CD337BC8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05719" y="2152078"/>
            <a:ext cx="9580562" cy="37830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below to insert a figure, image, or table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79DB19-B92E-992C-E4E9-2DCD0C23F8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973763"/>
            <a:ext cx="2286000" cy="884237"/>
          </a:xfrm>
        </p:spPr>
        <p:txBody>
          <a:bodyPr>
            <a:noAutofit/>
          </a:bodyPr>
          <a:lstStyle>
            <a:lvl1pPr marL="228600" indent="-228600">
              <a:buFontTx/>
              <a:buBlip>
                <a:blip r:embed="rId4"/>
              </a:buBlip>
              <a:defRPr sz="1400"/>
            </a:lvl1pPr>
            <a:lvl2pPr marL="27432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a caption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C6A2FF2-7546-1BC4-567C-FD2CF2575D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02000" y="5973763"/>
            <a:ext cx="2286000" cy="884237"/>
          </a:xfrm>
        </p:spPr>
        <p:txBody>
          <a:bodyPr>
            <a:noAutofit/>
          </a:bodyPr>
          <a:lstStyle>
            <a:lvl1pPr marL="228600" indent="-228600">
              <a:buFontTx/>
              <a:buBlip>
                <a:blip r:embed="rId4"/>
              </a:buBlip>
              <a:defRPr sz="1400"/>
            </a:lvl1pPr>
            <a:lvl2pPr marL="27432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a caption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43012E0-4920-E68F-7D78-1B301AEB39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04000" y="5973763"/>
            <a:ext cx="2286000" cy="884237"/>
          </a:xfrm>
        </p:spPr>
        <p:txBody>
          <a:bodyPr>
            <a:noAutofit/>
          </a:bodyPr>
          <a:lstStyle>
            <a:lvl1pPr marL="228600" indent="-228600">
              <a:buFontTx/>
              <a:buBlip>
                <a:blip r:embed="rId4"/>
              </a:buBlip>
              <a:defRPr sz="1400"/>
            </a:lvl1pPr>
            <a:lvl2pPr marL="27432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a caption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27AAE45-8412-6F15-3453-BDDC3EC8AC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06000" y="5973763"/>
            <a:ext cx="2286000" cy="884237"/>
          </a:xfrm>
        </p:spPr>
        <p:txBody>
          <a:bodyPr>
            <a:noAutofit/>
          </a:bodyPr>
          <a:lstStyle>
            <a:lvl1pPr marL="228600" indent="-228600">
              <a:buFontTx/>
              <a:buBlip>
                <a:blip r:embed="rId4"/>
              </a:buBlip>
              <a:defRPr sz="1400"/>
            </a:lvl1pPr>
            <a:lvl2pPr marL="27432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a caption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481BF-64CB-561D-5C0C-D34E55AB2591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8FB4410F-1DDF-CC97-EE97-59917E96C3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522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288332-CE9A-A4E4-527C-C44A018C6C0A}"/>
              </a:ext>
            </a:extLst>
          </p:cNvPr>
          <p:cNvSpPr/>
          <p:nvPr/>
        </p:nvSpPr>
        <p:spPr>
          <a:xfrm flipV="1">
            <a:off x="0" y="4355184"/>
            <a:ext cx="12192000" cy="25028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86659-47AE-E362-F63C-1D2C207C97D6}"/>
              </a:ext>
            </a:extLst>
          </p:cNvPr>
          <p:cNvSpPr/>
          <p:nvPr userDrawn="1"/>
        </p:nvSpPr>
        <p:spPr>
          <a:xfrm flipV="1">
            <a:off x="0" y="4355184"/>
            <a:ext cx="12192000" cy="25028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F3E69FA2-FDCD-0D7C-E19E-953FB54811EC}"/>
              </a:ext>
            </a:extLst>
          </p:cNvPr>
          <p:cNvSpPr>
            <a:spLocks noChangeAspect="1"/>
          </p:cNvSpPr>
          <p:nvPr userDrawn="1"/>
        </p:nvSpPr>
        <p:spPr>
          <a:xfrm>
            <a:off x="639662" y="2454808"/>
            <a:ext cx="3379772" cy="4006228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21A753AC-09F1-91A7-D274-C73341BA46BF}"/>
              </a:ext>
            </a:extLst>
          </p:cNvPr>
          <p:cNvSpPr>
            <a:spLocks noChangeAspect="1"/>
          </p:cNvSpPr>
          <p:nvPr userDrawn="1"/>
        </p:nvSpPr>
        <p:spPr>
          <a:xfrm>
            <a:off x="4491839" y="2454808"/>
            <a:ext cx="3379772" cy="4006228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676897DA-8124-F555-721D-87936A0B3E23}"/>
              </a:ext>
            </a:extLst>
          </p:cNvPr>
          <p:cNvSpPr>
            <a:spLocks noChangeAspect="1"/>
          </p:cNvSpPr>
          <p:nvPr userDrawn="1"/>
        </p:nvSpPr>
        <p:spPr>
          <a:xfrm>
            <a:off x="8344016" y="2454808"/>
            <a:ext cx="3379772" cy="4006228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72327-30FB-2378-ACD5-4B4C3CE00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5" y="292608"/>
            <a:ext cx="10363347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E88A8-AE84-B2ED-C64F-EBB0F86B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057662"/>
            <a:ext cx="2743200" cy="365125"/>
          </a:xfrm>
        </p:spPr>
        <p:txBody>
          <a:bodyPr/>
          <a:lstStyle/>
          <a:p>
            <a:fld id="{1B673B7E-B3F7-4118-BBAA-705C23BB47B3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5F15D-5EA7-6BBC-BFB8-8614BED6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05766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95AF9-20E8-6937-35BF-CE1EC6FB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48AD274C-8ECE-BC5A-CC5C-49704D3DD3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B5D3CA-7BFF-9800-0613-8C631EFE6A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5" y="1399032"/>
            <a:ext cx="10363347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1CA4353A-18C1-CA54-4316-031760047DA0}"/>
              </a:ext>
            </a:extLst>
          </p:cNvPr>
          <p:cNvSpPr>
            <a:spLocks noChangeAspect="1"/>
          </p:cNvSpPr>
          <p:nvPr/>
        </p:nvSpPr>
        <p:spPr>
          <a:xfrm>
            <a:off x="639662" y="2454808"/>
            <a:ext cx="3379772" cy="4006228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3CD384B5-6FB7-0D18-22EF-8BDC34ADFC33}"/>
              </a:ext>
            </a:extLst>
          </p:cNvPr>
          <p:cNvSpPr>
            <a:spLocks noChangeAspect="1"/>
          </p:cNvSpPr>
          <p:nvPr/>
        </p:nvSpPr>
        <p:spPr>
          <a:xfrm>
            <a:off x="468270" y="2292301"/>
            <a:ext cx="3379772" cy="3995868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C5F80056-FFB0-FDBA-7468-AB8FEA2227D9}"/>
              </a:ext>
            </a:extLst>
          </p:cNvPr>
          <p:cNvSpPr>
            <a:spLocks noChangeAspect="1"/>
          </p:cNvSpPr>
          <p:nvPr/>
        </p:nvSpPr>
        <p:spPr>
          <a:xfrm>
            <a:off x="4491839" y="2454808"/>
            <a:ext cx="3379772" cy="4006228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2EE19F4B-0A6B-85B8-330E-80DF0CEF168C}"/>
              </a:ext>
            </a:extLst>
          </p:cNvPr>
          <p:cNvSpPr>
            <a:spLocks noChangeAspect="1"/>
          </p:cNvSpPr>
          <p:nvPr/>
        </p:nvSpPr>
        <p:spPr>
          <a:xfrm>
            <a:off x="4320389" y="2292301"/>
            <a:ext cx="3379772" cy="3995868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C4E42E2E-E5F8-085D-CE3B-9EB319EFE42E}"/>
              </a:ext>
            </a:extLst>
          </p:cNvPr>
          <p:cNvSpPr>
            <a:spLocks noChangeAspect="1"/>
          </p:cNvSpPr>
          <p:nvPr/>
        </p:nvSpPr>
        <p:spPr>
          <a:xfrm>
            <a:off x="8344016" y="2454808"/>
            <a:ext cx="3379772" cy="4006228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4" name="AutoShape 9">
            <a:extLst>
              <a:ext uri="{FF2B5EF4-FFF2-40B4-BE49-F238E27FC236}">
                <a16:creationId xmlns:a16="http://schemas.microsoft.com/office/drawing/2014/main" id="{88F3D4EE-5C04-07F6-4ACA-B8E4BBA7BAEE}"/>
              </a:ext>
            </a:extLst>
          </p:cNvPr>
          <p:cNvSpPr>
            <a:spLocks noChangeAspect="1"/>
          </p:cNvSpPr>
          <p:nvPr/>
        </p:nvSpPr>
        <p:spPr>
          <a:xfrm>
            <a:off x="8172566" y="2292301"/>
            <a:ext cx="3379772" cy="3995868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FB7AE37-80D1-DD2C-4C11-E6EC980A2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263" y="2641616"/>
            <a:ext cx="3379787" cy="32972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F719F80-16C6-4960-BAD5-A3CBC7E261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0381" y="2646250"/>
            <a:ext cx="3379787" cy="32972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D5D8CB9E-AF7E-2683-F38E-6594F29128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72558" y="2641616"/>
            <a:ext cx="3379787" cy="32972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ED0A48D7-38D8-1B15-64A8-2E184A5FB9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3B7D32-5A9E-4799-13DC-0D5255A9363D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958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12" grpId="0" animBg="1"/>
      <p:bldP spid="14" grpId="0" animBg="1"/>
      <p:bldP spid="17" grpId="0" animBg="1"/>
      <p:bldP spid="19" grpId="0" animBg="1"/>
      <p:bldP spid="22" grpId="0" animBg="1"/>
      <p:bldP spid="24" grpId="0" animBg="1"/>
      <p:bldP spid="28" grpId="0" uiExpand="1">
        <p:tmplLst>
          <p:tmpl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uiExpand="1">
        <p:tmplLst>
          <p:tmpl>
            <p:tnLst>
              <p:par>
                <p:cTn presetID="47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uiExpand="1">
        <p:tmplLst>
          <p:tmpl>
            <p:tnLst>
              <p:par>
                <p:cTn presetID="47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Brief Text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0CBF08-B81B-E2D0-BC49-67A10C7F63B8}"/>
              </a:ext>
            </a:extLst>
          </p:cNvPr>
          <p:cNvSpPr/>
          <p:nvPr/>
        </p:nvSpPr>
        <p:spPr>
          <a:xfrm flipV="1">
            <a:off x="0" y="4355184"/>
            <a:ext cx="12192000" cy="25028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4F264-3640-45C0-706F-09F1E9EAA77D}"/>
              </a:ext>
            </a:extLst>
          </p:cNvPr>
          <p:cNvSpPr/>
          <p:nvPr userDrawn="1"/>
        </p:nvSpPr>
        <p:spPr>
          <a:xfrm flipV="1">
            <a:off x="0" y="4355184"/>
            <a:ext cx="12192000" cy="25028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9E579-4186-E472-6688-85C77384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D548AE2D-8D46-5B2F-18F9-9706C124B463}"/>
              </a:ext>
            </a:extLst>
          </p:cNvPr>
          <p:cNvSpPr>
            <a:spLocks noChangeAspect="1"/>
          </p:cNvSpPr>
          <p:nvPr userDrawn="1"/>
        </p:nvSpPr>
        <p:spPr>
          <a:xfrm>
            <a:off x="747242" y="2392413"/>
            <a:ext cx="3379772" cy="1950117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4FFA1633-F195-9695-4226-5E65DF5C069B}"/>
              </a:ext>
            </a:extLst>
          </p:cNvPr>
          <p:cNvSpPr>
            <a:spLocks noChangeAspect="1"/>
          </p:cNvSpPr>
          <p:nvPr userDrawn="1"/>
        </p:nvSpPr>
        <p:spPr>
          <a:xfrm>
            <a:off x="4599419" y="2392413"/>
            <a:ext cx="3379772" cy="1950117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F5C620D1-588A-CA05-D460-01A786EBD230}"/>
              </a:ext>
            </a:extLst>
          </p:cNvPr>
          <p:cNvSpPr>
            <a:spLocks noChangeAspect="1"/>
          </p:cNvSpPr>
          <p:nvPr userDrawn="1"/>
        </p:nvSpPr>
        <p:spPr>
          <a:xfrm>
            <a:off x="8451596" y="2392413"/>
            <a:ext cx="3379772" cy="1950117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46041CE0-8B52-022D-DA06-88AF121EDE08}"/>
              </a:ext>
            </a:extLst>
          </p:cNvPr>
          <p:cNvSpPr>
            <a:spLocks noChangeAspect="1"/>
          </p:cNvSpPr>
          <p:nvPr userDrawn="1"/>
        </p:nvSpPr>
        <p:spPr>
          <a:xfrm>
            <a:off x="2622765" y="4766893"/>
            <a:ext cx="3379772" cy="1950117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898A02C9-F7FD-00F8-DDCE-65BE971EF411}"/>
              </a:ext>
            </a:extLst>
          </p:cNvPr>
          <p:cNvSpPr>
            <a:spLocks noChangeAspect="1"/>
          </p:cNvSpPr>
          <p:nvPr userDrawn="1"/>
        </p:nvSpPr>
        <p:spPr>
          <a:xfrm>
            <a:off x="6474942" y="4766893"/>
            <a:ext cx="3379772" cy="1950117"/>
          </a:xfrm>
          <a:prstGeom prst="rect">
            <a:avLst/>
          </a:prstGeom>
          <a:solidFill>
            <a:schemeClr val="tx1"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16AFE1AE-1692-B7DD-D436-1C0EA2B0881C}"/>
              </a:ext>
            </a:extLst>
          </p:cNvPr>
          <p:cNvSpPr>
            <a:spLocks noChangeAspect="1"/>
          </p:cNvSpPr>
          <p:nvPr/>
        </p:nvSpPr>
        <p:spPr>
          <a:xfrm>
            <a:off x="747242" y="2392413"/>
            <a:ext cx="3379772" cy="1950117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A2B78F29-50F0-B2A7-8B74-5B2EB8AC681F}"/>
              </a:ext>
            </a:extLst>
          </p:cNvPr>
          <p:cNvSpPr>
            <a:spLocks noChangeAspect="1"/>
          </p:cNvSpPr>
          <p:nvPr/>
        </p:nvSpPr>
        <p:spPr>
          <a:xfrm>
            <a:off x="4599419" y="2392413"/>
            <a:ext cx="3379772" cy="1950117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378D24C9-469E-9645-E97C-DEB6BD5B244B}"/>
              </a:ext>
            </a:extLst>
          </p:cNvPr>
          <p:cNvSpPr>
            <a:spLocks noChangeAspect="1"/>
          </p:cNvSpPr>
          <p:nvPr/>
        </p:nvSpPr>
        <p:spPr>
          <a:xfrm>
            <a:off x="8451596" y="2392413"/>
            <a:ext cx="3379772" cy="1950117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B7259F93-5FB7-92F2-6CB3-D122A0F889CB}"/>
              </a:ext>
            </a:extLst>
          </p:cNvPr>
          <p:cNvSpPr>
            <a:spLocks noChangeAspect="1"/>
          </p:cNvSpPr>
          <p:nvPr/>
        </p:nvSpPr>
        <p:spPr>
          <a:xfrm>
            <a:off x="2622765" y="4766893"/>
            <a:ext cx="3379772" cy="1950117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74351E62-6C6D-0BDD-5EF7-3F91E6E52F90}"/>
              </a:ext>
            </a:extLst>
          </p:cNvPr>
          <p:cNvSpPr>
            <a:spLocks noChangeAspect="1"/>
          </p:cNvSpPr>
          <p:nvPr/>
        </p:nvSpPr>
        <p:spPr>
          <a:xfrm>
            <a:off x="6474942" y="4766893"/>
            <a:ext cx="3379772" cy="1950117"/>
          </a:xfrm>
          <a:prstGeom prst="rect">
            <a:avLst/>
          </a:prstGeom>
          <a:solidFill>
            <a:schemeClr val="tx1">
              <a:lumMod val="50000"/>
              <a:lumOff val="50000"/>
              <a:alpha val="34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8DE52-81AA-1CD9-845F-89951E21A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92608"/>
            <a:ext cx="10352330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2E42C-35BF-F0D6-4CB8-5437C736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891370"/>
            <a:ext cx="2743200" cy="365125"/>
          </a:xfrm>
        </p:spPr>
        <p:txBody>
          <a:bodyPr/>
          <a:lstStyle/>
          <a:p>
            <a:fld id="{6356AEB9-CE3D-49CA-9AF4-FF6C4AB661D8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3F628-7D69-8579-6CA8-DAFF116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89137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7C755865-7AE1-648C-A3CD-1A72CC4C6C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4979D6-E5F7-52FA-80B1-15B3FC84BB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399032"/>
            <a:ext cx="10352330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504810B3-FB0A-79AC-3156-30FE3DE238D0}"/>
              </a:ext>
            </a:extLst>
          </p:cNvPr>
          <p:cNvSpPr>
            <a:spLocks noChangeAspect="1"/>
          </p:cNvSpPr>
          <p:nvPr/>
        </p:nvSpPr>
        <p:spPr>
          <a:xfrm>
            <a:off x="553995" y="2185077"/>
            <a:ext cx="3379772" cy="1945074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AutoShape 9">
            <a:extLst>
              <a:ext uri="{FF2B5EF4-FFF2-40B4-BE49-F238E27FC236}">
                <a16:creationId xmlns:a16="http://schemas.microsoft.com/office/drawing/2014/main" id="{AF709764-69FF-E234-D288-D24FEAD95724}"/>
              </a:ext>
            </a:extLst>
          </p:cNvPr>
          <p:cNvSpPr>
            <a:spLocks noChangeAspect="1"/>
          </p:cNvSpPr>
          <p:nvPr/>
        </p:nvSpPr>
        <p:spPr>
          <a:xfrm>
            <a:off x="4406106" y="2185077"/>
            <a:ext cx="3379772" cy="1945074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459E011C-4C41-9FEE-0892-365B7ED7818A}"/>
              </a:ext>
            </a:extLst>
          </p:cNvPr>
          <p:cNvSpPr>
            <a:spLocks noChangeAspect="1"/>
          </p:cNvSpPr>
          <p:nvPr/>
        </p:nvSpPr>
        <p:spPr>
          <a:xfrm>
            <a:off x="8258250" y="2185077"/>
            <a:ext cx="3379772" cy="1945074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DFFB0F77-E586-AD74-CBBD-F0AD955B54A6}"/>
              </a:ext>
            </a:extLst>
          </p:cNvPr>
          <p:cNvSpPr>
            <a:spLocks noChangeAspect="1"/>
          </p:cNvSpPr>
          <p:nvPr/>
        </p:nvSpPr>
        <p:spPr>
          <a:xfrm>
            <a:off x="2438428" y="4568521"/>
            <a:ext cx="3379772" cy="1945074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id="{28607BB0-182F-DF6B-7DEF-CB047B90C273}"/>
              </a:ext>
            </a:extLst>
          </p:cNvPr>
          <p:cNvSpPr>
            <a:spLocks noChangeAspect="1"/>
          </p:cNvSpPr>
          <p:nvPr/>
        </p:nvSpPr>
        <p:spPr>
          <a:xfrm>
            <a:off x="6290565" y="4568521"/>
            <a:ext cx="3379772" cy="1945074"/>
          </a:xfrm>
          <a:prstGeom prst="rect">
            <a:avLst/>
          </a:prstGeom>
          <a:solidFill>
            <a:srgbClr val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73B96F-3B73-98AC-2767-89645EA953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3988" y="2385295"/>
            <a:ext cx="3379787" cy="15446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F710D977-1A4E-9F10-5331-52A94BCCFA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6099" y="2385295"/>
            <a:ext cx="3379787" cy="15446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D460DA17-F02D-7044-881F-CD72855A16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8243" y="2385295"/>
            <a:ext cx="3379787" cy="15446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697D45B2-2B72-8A95-6BDF-FE44729A0B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38421" y="4768739"/>
            <a:ext cx="3379787" cy="15446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8AF9ACF6-188F-1127-227D-344D1F8419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90558" y="4768739"/>
            <a:ext cx="3379787" cy="15446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781B63C1-F770-965B-EC3C-294A7B95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2DD178-B01C-F768-607C-F1F7B39BB312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5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2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26" grpId="0" animBg="1"/>
      <p:bldP spid="24" grpId="0" animBg="1"/>
      <p:bldP spid="22" grpId="0" animBg="1"/>
      <p:bldP spid="20" grpId="0" animBg="1"/>
      <p:bldP spid="18" grpId="0" animBg="1"/>
      <p:bldP spid="30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25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25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25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2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25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25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 Cards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8F38EC-C37D-C5E4-6B73-2AD7AE7F388D}"/>
              </a:ext>
            </a:extLst>
          </p:cNvPr>
          <p:cNvSpPr/>
          <p:nvPr userDrawn="1"/>
        </p:nvSpPr>
        <p:spPr>
          <a:xfrm>
            <a:off x="1531776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250955-5E4E-68EC-9B9C-73BE610835B6}"/>
              </a:ext>
            </a:extLst>
          </p:cNvPr>
          <p:cNvSpPr/>
          <p:nvPr userDrawn="1"/>
        </p:nvSpPr>
        <p:spPr>
          <a:xfrm>
            <a:off x="4953000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CD66B0-6685-5A33-EF8A-EA1AE4DDC35C}"/>
              </a:ext>
            </a:extLst>
          </p:cNvPr>
          <p:cNvSpPr/>
          <p:nvPr userDrawn="1"/>
        </p:nvSpPr>
        <p:spPr>
          <a:xfrm>
            <a:off x="8374385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8F809D-E9DE-9029-312A-9062C4F46B39}"/>
              </a:ext>
            </a:extLst>
          </p:cNvPr>
          <p:cNvSpPr/>
          <p:nvPr userDrawn="1"/>
        </p:nvSpPr>
        <p:spPr>
          <a:xfrm>
            <a:off x="3234908" y="4468147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F5AC24-FDC0-81F8-19DA-BA4B38C52C73}"/>
              </a:ext>
            </a:extLst>
          </p:cNvPr>
          <p:cNvSpPr/>
          <p:nvPr userDrawn="1"/>
        </p:nvSpPr>
        <p:spPr>
          <a:xfrm>
            <a:off x="6677629" y="4468147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3D91F-C877-741B-BFFC-2004F408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92608"/>
            <a:ext cx="10231144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9D01C-6B1F-EC3F-30B5-D29E1314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8339605"/>
            <a:ext cx="2743200" cy="365125"/>
          </a:xfrm>
        </p:spPr>
        <p:txBody>
          <a:bodyPr/>
          <a:lstStyle/>
          <a:p>
            <a:fld id="{1598A002-4E05-4E49-B1ED-FCE96B94FA23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7A40-DBAA-06CF-B17E-A79351F5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8339605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D817A-0EAB-1166-7E89-EE078D9E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6136BBC-A891-9CA4-1D82-7835089346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E1BE7C-6682-08AB-E1FE-9ABD4F7301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399032"/>
            <a:ext cx="10231144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E69ADA-8591-C320-426B-BD8A5D7DA6A8}"/>
              </a:ext>
            </a:extLst>
          </p:cNvPr>
          <p:cNvSpPr/>
          <p:nvPr/>
        </p:nvSpPr>
        <p:spPr>
          <a:xfrm>
            <a:off x="1531776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AEFDED-E4A5-3DE7-ACFD-4413A315382B}"/>
              </a:ext>
            </a:extLst>
          </p:cNvPr>
          <p:cNvSpPr/>
          <p:nvPr/>
        </p:nvSpPr>
        <p:spPr>
          <a:xfrm>
            <a:off x="4953000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9AB0C1-1486-6973-6C1C-A286104FF133}"/>
              </a:ext>
            </a:extLst>
          </p:cNvPr>
          <p:cNvSpPr/>
          <p:nvPr/>
        </p:nvSpPr>
        <p:spPr>
          <a:xfrm>
            <a:off x="8374385" y="2037126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471CB6-1E2B-8909-E874-7FCB9F093813}"/>
              </a:ext>
            </a:extLst>
          </p:cNvPr>
          <p:cNvSpPr/>
          <p:nvPr/>
        </p:nvSpPr>
        <p:spPr>
          <a:xfrm>
            <a:off x="3234908" y="4468147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B9A84C-07FF-6828-0E68-05A511EB2D91}"/>
              </a:ext>
            </a:extLst>
          </p:cNvPr>
          <p:cNvSpPr/>
          <p:nvPr/>
        </p:nvSpPr>
        <p:spPr>
          <a:xfrm>
            <a:off x="6677629" y="4468147"/>
            <a:ext cx="2286000" cy="2286000"/>
          </a:xfrm>
          <a:prstGeom prst="roundRect">
            <a:avLst>
              <a:gd name="adj" fmla="val 534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chemeClr val="accent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C1C9811-C634-97BD-E560-22DB4E060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31615" y="2288745"/>
            <a:ext cx="2286161" cy="1782762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F55CA3CE-8F13-2246-B3D2-0A71737895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2288745"/>
            <a:ext cx="2286000" cy="1782762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D9901A79-8EC2-DEBA-0728-673E08B471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5420" y="2288745"/>
            <a:ext cx="2286000" cy="1782762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A6E67D7B-5260-FF54-4765-41702F1315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4908" y="4719766"/>
            <a:ext cx="2286000" cy="1782762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2DFCBC8C-A84D-2F21-25CB-3AB07CAD9C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7629" y="4719766"/>
            <a:ext cx="2286000" cy="1782762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6D6A97A-A12D-17E6-7A8A-E0D8741D94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8E4ED9-CC2B-2B41-BC2C-B689980D9EE7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847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7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" grpId="0" animBg="1"/>
      <p:bldP spid="2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7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7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7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7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7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qua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CF3CEC-D73A-E978-5D08-CD0E5F0912F4}"/>
              </a:ext>
            </a:extLst>
          </p:cNvPr>
          <p:cNvSpPr>
            <a:spLocks noChangeAspect="1"/>
          </p:cNvSpPr>
          <p:nvPr userDrawn="1"/>
        </p:nvSpPr>
        <p:spPr>
          <a:xfrm>
            <a:off x="5334000" y="0"/>
            <a:ext cx="3429000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6AC901-7B55-3CBB-9181-5DFFE25B3991}"/>
              </a:ext>
            </a:extLst>
          </p:cNvPr>
          <p:cNvSpPr>
            <a:spLocks noChangeAspect="1"/>
          </p:cNvSpPr>
          <p:nvPr userDrawn="1"/>
        </p:nvSpPr>
        <p:spPr>
          <a:xfrm>
            <a:off x="8763000" y="0"/>
            <a:ext cx="3429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39C9EE-D536-9716-529E-91A8385559D7}"/>
              </a:ext>
            </a:extLst>
          </p:cNvPr>
          <p:cNvSpPr>
            <a:spLocks noChangeAspect="1"/>
          </p:cNvSpPr>
          <p:nvPr userDrawn="1"/>
        </p:nvSpPr>
        <p:spPr>
          <a:xfrm>
            <a:off x="5334000" y="3429000"/>
            <a:ext cx="3429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FA2E8B-6EB4-C8AD-991C-F1D4C9A46CCD}"/>
              </a:ext>
            </a:extLst>
          </p:cNvPr>
          <p:cNvSpPr>
            <a:spLocks noChangeAspect="1"/>
          </p:cNvSpPr>
          <p:nvPr userDrawn="1"/>
        </p:nvSpPr>
        <p:spPr>
          <a:xfrm>
            <a:off x="8763000" y="3429000"/>
            <a:ext cx="3429000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B52CD-463F-DA29-8344-6384FD46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823A95-BA10-1822-80C0-7D168E68C1F2}"/>
              </a:ext>
            </a:extLst>
          </p:cNvPr>
          <p:cNvSpPr>
            <a:spLocks noChangeAspect="1"/>
          </p:cNvSpPr>
          <p:nvPr/>
        </p:nvSpPr>
        <p:spPr>
          <a:xfrm>
            <a:off x="5334000" y="0"/>
            <a:ext cx="3429000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E8084-6968-5280-CBF5-311364540557}"/>
              </a:ext>
            </a:extLst>
          </p:cNvPr>
          <p:cNvSpPr>
            <a:spLocks noChangeAspect="1"/>
          </p:cNvSpPr>
          <p:nvPr/>
        </p:nvSpPr>
        <p:spPr>
          <a:xfrm>
            <a:off x="8763000" y="0"/>
            <a:ext cx="3429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225F38-BBE6-4A52-E837-E07037276A27}"/>
              </a:ext>
            </a:extLst>
          </p:cNvPr>
          <p:cNvSpPr>
            <a:spLocks noChangeAspect="1"/>
          </p:cNvSpPr>
          <p:nvPr/>
        </p:nvSpPr>
        <p:spPr>
          <a:xfrm>
            <a:off x="5334000" y="3429000"/>
            <a:ext cx="3429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AAE8E-7ACA-325D-4B8D-97A85517EE8A}"/>
              </a:ext>
            </a:extLst>
          </p:cNvPr>
          <p:cNvSpPr>
            <a:spLocks noChangeAspect="1"/>
          </p:cNvSpPr>
          <p:nvPr/>
        </p:nvSpPr>
        <p:spPr>
          <a:xfrm>
            <a:off x="8763000" y="3429000"/>
            <a:ext cx="3429000" cy="342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77F3-118E-271F-E7C4-6E47E6182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2184" y="2157984"/>
            <a:ext cx="3429000" cy="17922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add </a:t>
            </a:r>
            <a:br>
              <a:rPr lang="en-US" dirty="0"/>
            </a:br>
            <a:r>
              <a:rPr lang="en-US" dirty="0"/>
              <a:t>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72093B-597E-7C11-F342-1BA21665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494406"/>
            <a:ext cx="2743200" cy="365125"/>
          </a:xfrm>
        </p:spPr>
        <p:txBody>
          <a:bodyPr/>
          <a:lstStyle/>
          <a:p>
            <a:fld id="{1CC25A76-0FED-41F9-9EE0-AC41FF35A251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F5D27-D1E0-C3E1-062F-835867C4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494406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EE6DB-D37D-3240-1DF2-113F7D44A188}"/>
              </a:ext>
            </a:extLst>
          </p:cNvPr>
          <p:cNvSpPr/>
          <p:nvPr/>
        </p:nvSpPr>
        <p:spPr>
          <a:xfrm>
            <a:off x="1261364" y="2326933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13A6EF-D671-0983-97CD-1D6D78BA76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1612" y="4087368"/>
            <a:ext cx="3428999" cy="1874520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600"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26BB2F-9F36-6A0C-BC66-B3D09FEA0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0" y="0"/>
            <a:ext cx="3429000" cy="34290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704B7BE-9D41-F055-66DA-FF572D8A5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000" y="3442062"/>
            <a:ext cx="3429000" cy="34290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8E80595-CCF9-7E3C-E86A-052497B75F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0" y="0"/>
            <a:ext cx="3429000" cy="34290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AF53A16A-B0F1-E96E-C393-121237E1A0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0" y="3429000"/>
            <a:ext cx="3429000" cy="34290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9EBE89-C52B-A354-342B-F5EB659BC5D7}"/>
              </a:ext>
            </a:extLst>
          </p:cNvPr>
          <p:cNvSpPr/>
          <p:nvPr userDrawn="1"/>
        </p:nvSpPr>
        <p:spPr>
          <a:xfrm>
            <a:off x="1261364" y="2322576"/>
            <a:ext cx="130629" cy="146304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286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D3306C-C40B-C3AA-DA7B-7E03637EB0C6}"/>
              </a:ext>
            </a:extLst>
          </p:cNvPr>
          <p:cNvSpPr/>
          <p:nvPr userDrawn="1"/>
        </p:nvSpPr>
        <p:spPr>
          <a:xfrm rot="5400000">
            <a:off x="6050280" y="-1587826"/>
            <a:ext cx="91440" cy="1097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4B75D3A3-7960-CC42-F89B-AE3F1FDB28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42435" y="2302815"/>
            <a:ext cx="1325562" cy="1231900"/>
          </a:xfrm>
        </p:spPr>
        <p:txBody>
          <a:bodyPr lIns="0" tIns="0" rIns="0" bIns="0" anchor="b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34DC9C51-9B7B-FF5D-A7DE-283FF4A439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1032" y="4250924"/>
            <a:ext cx="1325562" cy="1231900"/>
          </a:xfrm>
        </p:spPr>
        <p:txBody>
          <a:bodyPr lIns="0" tIns="0" rIns="0" bIns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06E741A7-3770-00BC-8B69-31850EC5F4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0411" y="2302815"/>
            <a:ext cx="1325562" cy="1231900"/>
          </a:xfrm>
        </p:spPr>
        <p:txBody>
          <a:bodyPr lIns="0" tIns="0" rIns="0" bIns="0" anchor="b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AED2D7B-690C-1C59-7146-266129F312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008" y="4250924"/>
            <a:ext cx="1325562" cy="1231900"/>
          </a:xfrm>
        </p:spPr>
        <p:txBody>
          <a:bodyPr lIns="0" tIns="0" rIns="0" bIns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CC28E0-33BA-2BBB-D7DB-9B3BA9C4A1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292608"/>
            <a:ext cx="10429448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0E1C6-65F8-F1B8-C98D-2FF15E3B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245931"/>
            <a:ext cx="2743200" cy="365125"/>
          </a:xfrm>
        </p:spPr>
        <p:txBody>
          <a:bodyPr/>
          <a:lstStyle/>
          <a:p>
            <a:fld id="{A6BF4F36-F962-47EC-A517-E5103356ACB3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A0F7-C36F-9F16-F17F-C62A9EF6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245931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3A4D2-F725-CFE0-B6C1-B73A4084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A233EEA9-30F7-53E0-0BA8-95EF4F504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E81711-6A24-3383-7324-45692BBBB1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399032"/>
            <a:ext cx="10429448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4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45CB5-BCBB-E3BE-4775-7A40FF09BC42}"/>
              </a:ext>
            </a:extLst>
          </p:cNvPr>
          <p:cNvSpPr/>
          <p:nvPr/>
        </p:nvSpPr>
        <p:spPr>
          <a:xfrm rot="5400000">
            <a:off x="6050280" y="-1587826"/>
            <a:ext cx="91440" cy="1097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17589D-B1F8-D35D-806C-29A09F8CCA77}"/>
              </a:ext>
            </a:extLst>
          </p:cNvPr>
          <p:cNvSpPr>
            <a:spLocks noChangeAspect="1"/>
          </p:cNvSpPr>
          <p:nvPr/>
        </p:nvSpPr>
        <p:spPr>
          <a:xfrm>
            <a:off x="1203533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2106FB-8EED-29FE-E013-A23233FD494E}"/>
              </a:ext>
            </a:extLst>
          </p:cNvPr>
          <p:cNvSpPr>
            <a:spLocks noChangeAspect="1"/>
          </p:cNvSpPr>
          <p:nvPr/>
        </p:nvSpPr>
        <p:spPr>
          <a:xfrm>
            <a:off x="2260024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15F221-CF4A-4B5E-F30B-26D71FB13095}"/>
              </a:ext>
            </a:extLst>
          </p:cNvPr>
          <p:cNvSpPr>
            <a:spLocks noChangeAspect="1"/>
          </p:cNvSpPr>
          <p:nvPr/>
        </p:nvSpPr>
        <p:spPr>
          <a:xfrm>
            <a:off x="3316515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58770B-3ED6-EA9E-1EA6-21970A25B0E0}"/>
              </a:ext>
            </a:extLst>
          </p:cNvPr>
          <p:cNvSpPr>
            <a:spLocks noChangeAspect="1"/>
          </p:cNvSpPr>
          <p:nvPr/>
        </p:nvSpPr>
        <p:spPr>
          <a:xfrm>
            <a:off x="4373006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2B2092-3EFC-6043-0CC4-DC309EACB623}"/>
              </a:ext>
            </a:extLst>
          </p:cNvPr>
          <p:cNvSpPr>
            <a:spLocks noChangeAspect="1"/>
          </p:cNvSpPr>
          <p:nvPr/>
        </p:nvSpPr>
        <p:spPr>
          <a:xfrm>
            <a:off x="5429497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F29167-9115-25EF-7313-0D5166C6E3DE}"/>
              </a:ext>
            </a:extLst>
          </p:cNvPr>
          <p:cNvSpPr>
            <a:spLocks noChangeAspect="1"/>
          </p:cNvSpPr>
          <p:nvPr/>
        </p:nvSpPr>
        <p:spPr>
          <a:xfrm>
            <a:off x="6485988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84800A-3ECE-442C-0838-648D81C9C84A}"/>
              </a:ext>
            </a:extLst>
          </p:cNvPr>
          <p:cNvSpPr>
            <a:spLocks noChangeAspect="1"/>
          </p:cNvSpPr>
          <p:nvPr/>
        </p:nvSpPr>
        <p:spPr>
          <a:xfrm>
            <a:off x="7542479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405361-35DD-C94F-A81A-B4D0477C472F}"/>
              </a:ext>
            </a:extLst>
          </p:cNvPr>
          <p:cNvSpPr>
            <a:spLocks noChangeAspect="1"/>
          </p:cNvSpPr>
          <p:nvPr/>
        </p:nvSpPr>
        <p:spPr>
          <a:xfrm>
            <a:off x="8598970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BF20294-88DE-D39A-CCF8-299A7EF7EAEB}"/>
              </a:ext>
            </a:extLst>
          </p:cNvPr>
          <p:cNvSpPr>
            <a:spLocks noChangeAspect="1"/>
          </p:cNvSpPr>
          <p:nvPr/>
        </p:nvSpPr>
        <p:spPr>
          <a:xfrm>
            <a:off x="9655461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CDFB86-49BE-0433-97CF-6D684FA2D072}"/>
              </a:ext>
            </a:extLst>
          </p:cNvPr>
          <p:cNvSpPr>
            <a:spLocks noChangeAspect="1"/>
          </p:cNvSpPr>
          <p:nvPr/>
        </p:nvSpPr>
        <p:spPr>
          <a:xfrm>
            <a:off x="10711954" y="3761414"/>
            <a:ext cx="276513" cy="274320"/>
          </a:xfrm>
          <a:prstGeom prst="ellipse">
            <a:avLst/>
          </a:prstGeom>
          <a:ln w="19050">
            <a:solidFill>
              <a:schemeClr val="bg1"/>
            </a:solidFill>
          </a:ln>
          <a:effectLst>
            <a:outerShdw sx="126000" sy="126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72ED6CFA-51BF-F017-5229-0EB5F8B0A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872" y="2302815"/>
            <a:ext cx="1325562" cy="1231900"/>
          </a:xfrm>
        </p:spPr>
        <p:txBody>
          <a:bodyPr lIns="0" tIns="0" rIns="0" bIns="0" anchor="b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4F6B654C-33AC-96C3-2DFF-E476F6D211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15080" y="4250924"/>
            <a:ext cx="1325562" cy="1231900"/>
          </a:xfrm>
        </p:spPr>
        <p:txBody>
          <a:bodyPr lIns="0" tIns="0" rIns="0" bIns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5A65FE38-CFCD-F1C9-82B5-79E06746AB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62848" y="2302815"/>
            <a:ext cx="1325562" cy="1231900"/>
          </a:xfrm>
        </p:spPr>
        <p:txBody>
          <a:bodyPr lIns="0" tIns="0" rIns="0" bIns="0" anchor="b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4CF24734-C640-7DA7-D4BC-94F5D85473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03056" y="4250924"/>
            <a:ext cx="1325562" cy="1231900"/>
          </a:xfrm>
        </p:spPr>
        <p:txBody>
          <a:bodyPr lIns="0" tIns="0" rIns="0" bIns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0" name="Text Placeholder 41">
            <a:extLst>
              <a:ext uri="{FF2B5EF4-FFF2-40B4-BE49-F238E27FC236}">
                <a16:creationId xmlns:a16="http://schemas.microsoft.com/office/drawing/2014/main" id="{B39936BC-DB2B-FB47-6456-298969EC6C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86894" y="2302815"/>
            <a:ext cx="1325562" cy="1231900"/>
          </a:xfrm>
        </p:spPr>
        <p:txBody>
          <a:bodyPr lIns="0" tIns="0" rIns="0" bIns="0" anchor="b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1" name="Text Placeholder 41">
            <a:extLst>
              <a:ext uri="{FF2B5EF4-FFF2-40B4-BE49-F238E27FC236}">
                <a16:creationId xmlns:a16="http://schemas.microsoft.com/office/drawing/2014/main" id="{4534AB79-87B1-63A9-2A16-83203E66DE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5491" y="4250924"/>
            <a:ext cx="1325562" cy="1231900"/>
          </a:xfrm>
        </p:spPr>
        <p:txBody>
          <a:bodyPr lIns="0" tIns="0" rIns="0" bIns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FC7BE-E85D-CA9F-9073-C2E182D967EC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2A7AF4E7-C014-0EB1-619C-B754958713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227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8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27" grpId="0" animBg="1"/>
      <p:bldP spid="30" grpId="0" animBg="1"/>
      <p:bldP spid="33" grpId="0" animBg="1"/>
      <p:bldP spid="36" grpId="0" animBg="1"/>
      <p:bldP spid="39" grpId="0" animBg="1"/>
      <p:bldP spid="4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6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8AB2-77B0-FFF5-638D-20EE823E8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5" y="292608"/>
            <a:ext cx="10341313" cy="1106424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B5D034-AA67-135C-195C-E4005142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326594"/>
            <a:ext cx="2743200" cy="365125"/>
          </a:xfrm>
        </p:spPr>
        <p:txBody>
          <a:bodyPr/>
          <a:lstStyle/>
          <a:p>
            <a:fld id="{000E7727-FF42-4217-B0C1-472B631B3B4E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17D3EE-F0A7-2197-38CB-EC765E51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32659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AC3F5B-FCAD-83AA-055E-74F99D64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A3036F-5FA7-751B-1F10-E07A430B7F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0975" y="1399032"/>
            <a:ext cx="10341313" cy="557784"/>
          </a:xfrm>
        </p:spPr>
        <p:txBody>
          <a:bodyPr lIns="0" tIns="0" rIns="0" bIns="0"/>
          <a:lstStyle>
            <a:lvl1pPr marL="228600" indent="-228600" algn="l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Click to add a subtitle</a:t>
            </a: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96A685DD-E024-9300-F9E7-AC5543418B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A0DE82-98EC-533C-AB32-FDCC1EF98357}"/>
              </a:ext>
            </a:extLst>
          </p:cNvPr>
          <p:cNvSpPr/>
          <p:nvPr userDrawn="1"/>
        </p:nvSpPr>
        <p:spPr>
          <a:xfrm>
            <a:off x="640080" y="248582"/>
            <a:ext cx="130629" cy="1188720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480DCB7-5A9F-BF35-BB6E-51A0B5D0C9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522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623C5-37F6-859A-41B1-16C22153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326594"/>
            <a:ext cx="2743200" cy="365125"/>
          </a:xfrm>
        </p:spPr>
        <p:txBody>
          <a:bodyPr/>
          <a:lstStyle/>
          <a:p>
            <a:fld id="{488337F3-65AC-4CB7-8058-442D59FB2B0C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6044D-7265-5408-FABA-FF73C64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32659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C89D2-3F2C-1998-5007-EADF0611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72B75EF-415A-D1DD-319D-AE09FCB53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DB9D6-FD7A-4756-AFE9-8094F8E9EB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below to add a full-slide image</a:t>
            </a:r>
          </a:p>
          <a:p>
            <a:endParaRPr lang="en-US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6673BAD4-0E46-3998-440F-77EC1FE90D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864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91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F7980-E815-1CF3-E2B5-6C673D7E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7891370"/>
            <a:ext cx="2743200" cy="365125"/>
          </a:xfrm>
        </p:spPr>
        <p:txBody>
          <a:bodyPr/>
          <a:lstStyle/>
          <a:p>
            <a:fld id="{B43DF9F1-8BD5-470B-A2A1-2D71572325D6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A5E19-AF13-0429-E59F-66F83F19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789137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AF881-6BBA-99FB-8A35-9007AEF4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33A4BCD-D299-A3DA-45EC-A5F0C72D29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2ADBCC6E-B6AF-8EA6-F6FD-D15DB716DF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09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021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>
            <a:extLst>
              <a:ext uri="{FF2B5EF4-FFF2-40B4-BE49-F238E27FC236}">
                <a16:creationId xmlns:a16="http://schemas.microsoft.com/office/drawing/2014/main" id="{DCDCE49C-0535-DB37-980D-4BECA78070B4}"/>
              </a:ext>
            </a:extLst>
          </p:cNvPr>
          <p:cNvSpPr>
            <a:spLocks noChangeAspect="1"/>
          </p:cNvSpPr>
          <p:nvPr/>
        </p:nvSpPr>
        <p:spPr>
          <a:xfrm>
            <a:off x="723900" y="786912"/>
            <a:ext cx="1332035" cy="1332035"/>
          </a:xfrm>
          <a:prstGeom prst="fram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DB0CF-AF00-51D0-4553-F59F71177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013141"/>
            <a:ext cx="5257800" cy="1912932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02BE2-F267-8164-486C-78708C08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90" y="8061699"/>
            <a:ext cx="2743200" cy="365125"/>
          </a:xfrm>
        </p:spPr>
        <p:txBody>
          <a:bodyPr/>
          <a:lstStyle/>
          <a:p>
            <a:fld id="{B1E262C7-C496-49F3-8DDB-1E85DD86A4FF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2A2DA-0DEA-C63C-88BA-0FE9A4CF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36010" y="806169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A1044-0593-0A16-16DA-64C6BCB5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7819653"/>
            <a:ext cx="2743200" cy="365125"/>
          </a:xfrm>
        </p:spPr>
        <p:txBody>
          <a:bodyPr/>
          <a:lstStyle/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671FA-840F-E19D-EC49-8C9976C3ABC8}"/>
              </a:ext>
            </a:extLst>
          </p:cNvPr>
          <p:cNvSpPr/>
          <p:nvPr/>
        </p:nvSpPr>
        <p:spPr>
          <a:xfrm rot="5400000">
            <a:off x="6057932" y="723933"/>
            <a:ext cx="76134" cy="12192002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ACC5EC9D-ACB7-496B-9B27-8BE61D4A98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0" y="60960"/>
            <a:ext cx="651832" cy="651832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D33427-3E62-55B6-C685-E636056E7D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-1"/>
            <a:ext cx="6096000" cy="29914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below to add an image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CBB5AD2-F547-F9FE-269D-14AA49E50D8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2991418"/>
            <a:ext cx="6096000" cy="3790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below to add an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C629717-FE6D-D267-1EE0-3DF1BC1B3B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93466"/>
            <a:ext cx="6096000" cy="37863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the icon below to add an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D9AD7-A2FC-E605-B38B-667602C1AB52}"/>
              </a:ext>
            </a:extLst>
          </p:cNvPr>
          <p:cNvSpPr/>
          <p:nvPr userDrawn="1"/>
        </p:nvSpPr>
        <p:spPr>
          <a:xfrm rot="5400000">
            <a:off x="6057932" y="723933"/>
            <a:ext cx="76134" cy="12192002"/>
          </a:xfrm>
          <a:prstGeom prst="rect">
            <a:avLst/>
          </a:prstGeom>
          <a:solidFill>
            <a:srgbClr val="52C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6B78D9E8-DBC0-031B-6D34-D643F82C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0" y="60960"/>
            <a:ext cx="651832" cy="651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341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7" grpId="0" animBg="1"/>
      <p:bldP spid="10" grpId="0"/>
      <p:bldP spid="12" grpId="0"/>
      <p:bldP spid="14" grpId="0"/>
      <p:bldP spid="11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FC295-3480-4C8D-2699-6DDE6CA6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475A-CE71-4B07-E534-EEC533D72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D1E9-D9BC-8F73-B74A-8AD97A015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190" y="6492875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7EFC2-F94F-43E4-9D02-5B8E1ACECBC4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57106-981E-A6E6-78BA-D62C14845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6010" y="6492875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E5F70-2529-EB0A-561B-0738D0E3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4A778-01F1-4838-BD6E-74A42FA48A0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165164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lnSpc>
          <a:spcPct val="114000"/>
        </a:lnSpc>
        <a:spcBef>
          <a:spcPts val="600"/>
        </a:spcBef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" indent="-22860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22860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indent="-22860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indent="-228600" algn="l" defTabSz="914400" rtl="0" eaLnBrk="1" latinLnBrk="0" hangingPunct="1">
        <a:lnSpc>
          <a:spcPct val="114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 userDrawn="1">
          <p15:clr>
            <a:srgbClr val="F26B43"/>
          </p15:clr>
        </p15:guide>
        <p15:guide id="8" pos="384" userDrawn="1">
          <p15:clr>
            <a:srgbClr val="F26B43"/>
          </p15:clr>
        </p15:guide>
        <p15:guide id="9" pos="7296" userDrawn="1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3888" userDrawn="1">
          <p15:clr>
            <a:srgbClr val="F26B43"/>
          </p15:clr>
        </p15:guide>
        <p15:guide id="1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jpg"/><Relationship Id="rId4" Type="http://schemas.openxmlformats.org/officeDocument/2006/relationships/image" Target="../media/image9.svg"/><Relationship Id="rId9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59B3-468F-5453-D4AF-095F6A252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889" y="1343608"/>
            <a:ext cx="7712537" cy="3998412"/>
          </a:xfrm>
        </p:spPr>
        <p:txBody>
          <a:bodyPr/>
          <a:lstStyle/>
          <a:p>
            <a:r>
              <a:rPr lang="da-DK" dirty="0" err="1"/>
              <a:t>RePORT</a:t>
            </a:r>
            <a:br>
              <a:rPr lang="da-DK" dirty="0"/>
            </a:br>
            <a:r>
              <a:rPr lang="da-DK" dirty="0"/>
              <a:t>Federated Learning</a:t>
            </a:r>
            <a:br>
              <a:rPr lang="da-DK" dirty="0"/>
            </a:br>
            <a:r>
              <a:rPr lang="da-DK" dirty="0" err="1"/>
              <a:t>Initiative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54C6A-083F-0E23-3307-9C1D22709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6889" y="5342020"/>
            <a:ext cx="4782312" cy="899841"/>
          </a:xfrm>
        </p:spPr>
        <p:txBody>
          <a:bodyPr anchor="b">
            <a:normAutofit/>
          </a:bodyPr>
          <a:lstStyle/>
          <a:p>
            <a:r>
              <a:rPr lang="en-US" dirty="0"/>
              <a:t>Evan Johnson, PhD</a:t>
            </a:r>
          </a:p>
          <a:p>
            <a:r>
              <a:rPr lang="en-US" dirty="0"/>
              <a:t>Sue Siminski, MS, MBA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483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BDCA-A3BF-4FD3-3652-60A05D55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</a:t>
            </a:r>
            <a:br>
              <a:rPr lang="en-US" dirty="0"/>
            </a:br>
            <a:r>
              <a:rPr lang="en-US" dirty="0"/>
              <a:t>Federated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9A9A1-B7D2-1CA6-D808-938F9DD7E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federated database connects multiple independent databases into a single virtual environment, without physically integrating them.</a:t>
            </a:r>
          </a:p>
          <a:p>
            <a:r>
              <a:rPr lang="en-US" dirty="0"/>
              <a:t>Data is retained where it is stored (local site systems keep ownership).</a:t>
            </a:r>
          </a:p>
          <a:p>
            <a:r>
              <a:rPr lang="en-US" dirty="0"/>
              <a:t>Users and applications interact with the system as if it were one cohesive data source.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5A88-4397-1841-0D35-E222111E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486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E483A-5C8F-B842-59B5-6FF74A12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BF9F-EF72-EA90-A84B-E2EE29CF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</a:t>
            </a:r>
            <a:br>
              <a:rPr lang="en-US" dirty="0"/>
            </a:br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EF71-B02A-153E-E4AB-9C0CF0B23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8663" cy="4351338"/>
          </a:xfrm>
        </p:spPr>
        <p:txBody>
          <a:bodyPr>
            <a:normAutofit/>
          </a:bodyPr>
          <a:lstStyle/>
          <a:p>
            <a:r>
              <a:rPr lang="en-US" dirty="0"/>
              <a:t>Seamless and integrated access to distributed data.</a:t>
            </a:r>
          </a:p>
          <a:p>
            <a:r>
              <a:rPr lang="en-US" dirty="0"/>
              <a:t>Participating sites keep control of their data.</a:t>
            </a:r>
          </a:p>
          <a:p>
            <a:r>
              <a:rPr lang="en-US" dirty="0"/>
              <a:t>Common query layer reduces duplication of data transfers.</a:t>
            </a:r>
          </a:p>
          <a:p>
            <a:r>
              <a:rPr lang="en-US" dirty="0"/>
              <a:t>Standardized metadata supports consistent definitions across systems.</a:t>
            </a:r>
          </a:p>
          <a:p>
            <a:r>
              <a:rPr lang="en-US" dirty="0"/>
              <a:t>Scalable architecture that accommodates additional country sites.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AE853-9497-3178-9AE8-E1263809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061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3D29-7AE0-46F2-A7D9-40217989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24FC-146C-8749-8D6D-452A136B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Architectures -- Hierarchical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6C293-777A-C44D-4AE2-983698C3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Content Placeholder 3" descr="A diagram of a building&#10;&#10;AI-generated content may be incorrect.">
            <a:extLst>
              <a:ext uri="{FF2B5EF4-FFF2-40B4-BE49-F238E27FC236}">
                <a16:creationId xmlns:a16="http://schemas.microsoft.com/office/drawing/2014/main" id="{9D1030E6-8423-E786-AE0D-2DCA5B0A4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50"/>
          <a:stretch>
            <a:fillRect/>
          </a:stretch>
        </p:blipFill>
        <p:spPr>
          <a:xfrm>
            <a:off x="1552627" y="1192502"/>
            <a:ext cx="8694960" cy="53003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079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A6E6-CCCB-35DD-2495-18BE54CF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A4B0-56D3-D3E5-7442-1CBB09A9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Architectures -- Decentralized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8B108-598D-BA07-75E0-9E4E85B4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3" descr="A diagram of a building&#10;&#10;AI-generated content may be incorrect.">
            <a:extLst>
              <a:ext uri="{FF2B5EF4-FFF2-40B4-BE49-F238E27FC236}">
                <a16:creationId xmlns:a16="http://schemas.microsoft.com/office/drawing/2014/main" id="{05FAA032-BB50-9D27-5715-EBD3C4AC9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45" t="-624" r="-485" b="624"/>
          <a:stretch>
            <a:fillRect/>
          </a:stretch>
        </p:blipFill>
        <p:spPr>
          <a:xfrm>
            <a:off x="1545021" y="1175436"/>
            <a:ext cx="9080938" cy="54929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140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703E-37DA-1208-5BB5-0F61E097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ADDA-12D7-AD65-5A5A-54F85FE7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Pilot a </a:t>
            </a:r>
            <a:br>
              <a:rPr lang="en-US" dirty="0"/>
            </a:br>
            <a:r>
              <a:rPr lang="en-US" dirty="0"/>
              <a:t>Federated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381F-DE12-FDDA-B3A5-601838087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8663" cy="4351338"/>
          </a:xfrm>
        </p:spPr>
        <p:txBody>
          <a:bodyPr>
            <a:normAutofit/>
          </a:bodyPr>
          <a:lstStyle/>
          <a:p>
            <a:r>
              <a:rPr lang="en-US" dirty="0"/>
              <a:t>Reduces long-term burden on sites by avoiding repeated full dataset transfers.</a:t>
            </a:r>
          </a:p>
          <a:p>
            <a:r>
              <a:rPr lang="en-US" dirty="0"/>
              <a:t>Enables near-real-time access to updated data for reporting and analyses.</a:t>
            </a:r>
          </a:p>
          <a:p>
            <a:r>
              <a:rPr lang="en-US" dirty="0"/>
              <a:t>Improves data quality and simplifies harmonization process, as it is now done at the source.</a:t>
            </a:r>
          </a:p>
          <a:p>
            <a:r>
              <a:rPr lang="en-US" dirty="0"/>
              <a:t>Strengthens cross-project collaboration without centralizing data.</a:t>
            </a:r>
          </a:p>
          <a:p>
            <a:r>
              <a:rPr lang="en-US" dirty="0"/>
              <a:t>Supports compliance by keeping identifiable data local.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9A9B0-44C5-7B1A-E3D6-A0D10ABB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546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CC59-C53C-4F79-4924-AA0D51B6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8615-EF6F-4006-ABA5-32A53D9A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Pilot </a:t>
            </a:r>
            <a:br>
              <a:rPr lang="en-US" dirty="0"/>
            </a:br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12C5-C354-A9C8-6DCD-3B9266895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3236" cy="4351338"/>
          </a:xfrm>
        </p:spPr>
        <p:txBody>
          <a:bodyPr>
            <a:normAutofit/>
          </a:bodyPr>
          <a:lstStyle/>
          <a:p>
            <a:r>
              <a:rPr lang="en-US" dirty="0"/>
              <a:t>Test feasibility across a small group of participating sites. </a:t>
            </a:r>
          </a:p>
          <a:p>
            <a:pPr lvl="1"/>
            <a:r>
              <a:rPr lang="en-US" dirty="0"/>
              <a:t>Long TB is a good study candidate.</a:t>
            </a:r>
          </a:p>
          <a:p>
            <a:r>
              <a:rPr lang="en-US" dirty="0"/>
              <a:t>Evaluate performance, security, and governance requirements.</a:t>
            </a:r>
          </a:p>
          <a:p>
            <a:r>
              <a:rPr lang="en-US" dirty="0"/>
              <a:t>Develop shared data dictionaries and access rules.</a:t>
            </a:r>
          </a:p>
          <a:p>
            <a:r>
              <a:rPr lang="en-US" dirty="0"/>
              <a:t>Identify the resources, staffing, and infrastructure needed for scale-up.</a:t>
            </a:r>
          </a:p>
          <a:p>
            <a:r>
              <a:rPr lang="en-US" dirty="0"/>
              <a:t>Provide recommendations for a long-term federated architecture.</a:t>
            </a:r>
          </a:p>
          <a:p>
            <a:endParaRPr lang="en-US" dirty="0"/>
          </a:p>
          <a:p>
            <a:r>
              <a:rPr lang="en-US" dirty="0"/>
              <a:t>(More than a pilot?? See Aims below)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CF493-0904-B083-33F5-F32C5747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7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37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6FFF-F944-92FE-9666-029B675D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1 – Build Federated Learning System for </a:t>
            </a:r>
            <a:r>
              <a:rPr lang="en-US" dirty="0" err="1"/>
              <a:t>RePORT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BA057-71E3-FB8B-DE39-6384B051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7FA41A48-2376-5F85-0B9B-4C102710E4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" t="13163" b="17719"/>
          <a:stretch/>
        </p:blipFill>
        <p:spPr bwMode="auto">
          <a:xfrm>
            <a:off x="1403098" y="1396154"/>
            <a:ext cx="9385803" cy="37592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E18795-F4C8-FF96-EE3C-34E5441B2456}"/>
              </a:ext>
            </a:extLst>
          </p:cNvPr>
          <p:cNvSpPr txBox="1"/>
          <p:nvPr/>
        </p:nvSpPr>
        <p:spPr>
          <a:xfrm>
            <a:off x="947450" y="5406105"/>
            <a:ext cx="63550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Containerized FL clients (Docker/Singularity)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Central orchestrator with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Zero data movement out of sites</a:t>
            </a:r>
          </a:p>
        </p:txBody>
      </p:sp>
    </p:spTree>
    <p:extLst>
      <p:ext uri="{BB962C8B-B14F-4D97-AF65-F5344CB8AC3E}">
        <p14:creationId xmlns:p14="http://schemas.microsoft.com/office/powerpoint/2010/main" val="387893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FD766A-2A23-546E-B26F-C33FD62EB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572148" y="-1226132"/>
            <a:ext cx="7047704" cy="9120559"/>
          </a:xfrm>
        </p:spPr>
      </p:pic>
    </p:spTree>
    <p:extLst>
      <p:ext uri="{BB962C8B-B14F-4D97-AF65-F5344CB8AC3E}">
        <p14:creationId xmlns:p14="http://schemas.microsoft.com/office/powerpoint/2010/main" val="74679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CCA-985F-72A2-5BF6-B019DAA4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E25C-AEA2-4072-E5C7-B786FA87F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aintain data privacy and enable collaborations without centralizing sensitive information.</a:t>
            </a:r>
          </a:p>
          <a:p>
            <a:pPr lvl="1"/>
            <a:r>
              <a:rPr lang="en-US" dirty="0"/>
              <a:t>FL allows multiple independent database to connect into a single environment without physical integration.</a:t>
            </a:r>
          </a:p>
          <a:p>
            <a:pPr lvl="1"/>
            <a:r>
              <a:rPr lang="en-US" dirty="0"/>
              <a:t>Ensures data remains stored at the local sites, which maintain ownership.</a:t>
            </a:r>
          </a:p>
          <a:p>
            <a:pPr lvl="1"/>
            <a:r>
              <a:rPr lang="en-US" dirty="0"/>
              <a:t>Architecture is scalable to accommodate additional sites.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F9A83-C6B4-1F30-7B86-08BC0C12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1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4D36-C6F1-3A37-4769-35D30EC7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89A0-122E-1F9C-124A-05838B9E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F44C-F7E9-32DB-4698-06B29366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370" cy="4351338"/>
          </a:xfrm>
        </p:spPr>
        <p:txBody>
          <a:bodyPr>
            <a:normAutofit/>
          </a:bodyPr>
          <a:lstStyle/>
          <a:p>
            <a:r>
              <a:rPr lang="en-US" dirty="0"/>
              <a:t>Proof-of-concept testing using </a:t>
            </a:r>
            <a:r>
              <a:rPr lang="en-US" dirty="0" err="1"/>
              <a:t>REDCap</a:t>
            </a:r>
            <a:r>
              <a:rPr lang="en-US" dirty="0"/>
              <a:t> data from Frontier Science.</a:t>
            </a:r>
          </a:p>
          <a:p>
            <a:r>
              <a:rPr lang="en-US" dirty="0"/>
              <a:t>Pilot discussions show Long TB is an ideal candidate for early deployment.</a:t>
            </a:r>
          </a:p>
          <a:p>
            <a:r>
              <a:rPr lang="en-US" dirty="0"/>
              <a:t>Demonstrated feasibility of containerized execution at multiple sites (local inference without exporting raw data).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DE5A5-73F4-0F9F-F7CD-648DD8AA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55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7B00-C912-E504-8365-E6CECE9E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AA424-54AA-3216-AFC6-69D31072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Platform Development</a:t>
            </a:r>
          </a:p>
          <a:p>
            <a:pPr lvl="1"/>
            <a:r>
              <a:rPr lang="en-US" dirty="0"/>
              <a:t>Build FL orchestration layer with site authentication and secure communication.</a:t>
            </a:r>
          </a:p>
          <a:p>
            <a:pPr lvl="1"/>
            <a:r>
              <a:rPr lang="en-US" dirty="0"/>
              <a:t>Use open-source FL frameworks (TensorFlow Federated, Flower/</a:t>
            </a:r>
            <a:r>
              <a:rPr lang="en-US" dirty="0" err="1"/>
              <a:t>FLwr</a:t>
            </a:r>
            <a:r>
              <a:rPr lang="en-US" dirty="0"/>
              <a:t>, </a:t>
            </a:r>
            <a:r>
              <a:rPr lang="en-US" dirty="0" err="1"/>
              <a:t>FedML</a:t>
            </a:r>
            <a:r>
              <a:rPr lang="en-US" dirty="0"/>
              <a:t>, FATE).</a:t>
            </a:r>
          </a:p>
          <a:p>
            <a:r>
              <a:rPr lang="en-US" dirty="0"/>
              <a:t>Containerized Clients</a:t>
            </a:r>
          </a:p>
          <a:p>
            <a:pPr lvl="1"/>
            <a:r>
              <a:rPr lang="en-US" dirty="0"/>
              <a:t>Deploy Singularity/Docker images for each site.</a:t>
            </a:r>
          </a:p>
          <a:p>
            <a:pPr lvl="1"/>
            <a:r>
              <a:rPr lang="en-US" dirty="0"/>
              <a:t>Each image runs training locally and sends only gradients/weights to the central orchestrator.</a:t>
            </a:r>
          </a:p>
          <a:p>
            <a:r>
              <a:rPr lang="en-US" dirty="0"/>
              <a:t>Standardization Layer</a:t>
            </a:r>
          </a:p>
          <a:p>
            <a:pPr lvl="1"/>
            <a:r>
              <a:rPr lang="en-US" dirty="0"/>
              <a:t>Use shared metadata and data dictionary to ensure consistent modeling.</a:t>
            </a:r>
          </a:p>
          <a:p>
            <a:r>
              <a:rPr lang="en-US" dirty="0"/>
              <a:t>System Validation</a:t>
            </a:r>
          </a:p>
          <a:p>
            <a:pPr lvl="1"/>
            <a:r>
              <a:rPr lang="en-US" dirty="0"/>
              <a:t>Compare federated vs. centralized model performance, convergence behavior, reproducibility.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1075-1BFA-E01B-EA3D-E0283F51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54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C86F-2902-1F78-277B-1917FFF6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E959-4406-38AD-3039-1D097884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secure, production-ready federated learning system running across </a:t>
            </a:r>
            <a:r>
              <a:rPr lang="en-US" dirty="0" err="1"/>
              <a:t>RePORT</a:t>
            </a:r>
            <a:r>
              <a:rPr lang="en-US" dirty="0"/>
              <a:t> sites.</a:t>
            </a:r>
          </a:p>
          <a:p>
            <a:r>
              <a:rPr lang="en-US" dirty="0"/>
              <a:t>Evidence of model convergence and accuracy comparable to non-federated baselines.</a:t>
            </a:r>
          </a:p>
          <a:p>
            <a:r>
              <a:rPr lang="en-US" dirty="0"/>
              <a:t>Verified privacy guarantees (no raw data leaves sites).</a:t>
            </a:r>
          </a:p>
          <a:p>
            <a:r>
              <a:rPr lang="en-US" dirty="0"/>
              <a:t>A reproducible container workflow ready for scale-up.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2FCAF-72CD-B7F8-1D0D-A29A8C5F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0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552C-220E-7128-B90E-2F0D0EC4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Neural network icon from cloud computing collection. simple line element neural network symbol&#10;&#10;AI-generated content may be incorrect.">
            <a:extLst>
              <a:ext uri="{FF2B5EF4-FFF2-40B4-BE49-F238E27FC236}">
                <a16:creationId xmlns:a16="http://schemas.microsoft.com/office/drawing/2014/main" id="{07738AF5-9FF7-0935-B9F8-B96A4E58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0" t="17473" r="22817" b="39122"/>
          <a:stretch>
            <a:fillRect/>
          </a:stretch>
        </p:blipFill>
        <p:spPr>
          <a:xfrm rot="7888504">
            <a:off x="4397017" y="4745254"/>
            <a:ext cx="822925" cy="702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A57F21-DCA4-78D4-CC08-BAEFF620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Aim 2 – Federated GLM &amp; Foundation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87E84-6A6B-1B2B-E8CD-ECDCA27D90BC}"/>
              </a:ext>
            </a:extLst>
          </p:cNvPr>
          <p:cNvSpPr txBox="1"/>
          <p:nvPr/>
        </p:nvSpPr>
        <p:spPr>
          <a:xfrm>
            <a:off x="6629644" y="1887644"/>
            <a:ext cx="56097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Federated Foundation Models (FM):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Domain Models (DM) enhance FMs with domain-specific knowledge via Federated Foundation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FMs improve DMs’ generalization across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Parameter-efficient fine-tuning with all data kept local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ED64F4-1461-D144-4B8D-F733808188FA}"/>
              </a:ext>
            </a:extLst>
          </p:cNvPr>
          <p:cNvSpPr/>
          <p:nvPr/>
        </p:nvSpPr>
        <p:spPr>
          <a:xfrm>
            <a:off x="344633" y="5680912"/>
            <a:ext cx="1299410" cy="661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Efficiency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7F2C76-9CCF-CF93-775A-C82F56C54938}"/>
              </a:ext>
            </a:extLst>
          </p:cNvPr>
          <p:cNvSpPr/>
          <p:nvPr/>
        </p:nvSpPr>
        <p:spPr>
          <a:xfrm>
            <a:off x="2985458" y="1833722"/>
            <a:ext cx="1299410" cy="661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Privacy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09F7B5-6143-E0EA-958C-5725DB1FCFCF}"/>
              </a:ext>
            </a:extLst>
          </p:cNvPr>
          <p:cNvSpPr/>
          <p:nvPr/>
        </p:nvSpPr>
        <p:spPr>
          <a:xfrm>
            <a:off x="5903497" y="5624849"/>
            <a:ext cx="1299410" cy="661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Utility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C414A-CF1F-17FF-9911-9201EBAD805F}"/>
              </a:ext>
            </a:extLst>
          </p:cNvPr>
          <p:cNvSpPr txBox="1"/>
          <p:nvPr/>
        </p:nvSpPr>
        <p:spPr>
          <a:xfrm>
            <a:off x="8852287" y="6400801"/>
            <a:ext cx="3387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/pdf/2502.12176</a:t>
            </a:r>
          </a:p>
        </p:txBody>
      </p:sp>
      <p:pic>
        <p:nvPicPr>
          <p:cNvPr id="11" name="Graphic 10" descr="Hospital outline">
            <a:extLst>
              <a:ext uri="{FF2B5EF4-FFF2-40B4-BE49-F238E27FC236}">
                <a16:creationId xmlns:a16="http://schemas.microsoft.com/office/drawing/2014/main" id="{2EECEA36-C843-D10F-E6BC-273EF146E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200" y="5314734"/>
            <a:ext cx="914400" cy="914400"/>
          </a:xfrm>
          <a:prstGeom prst="rect">
            <a:avLst/>
          </a:prstGeom>
        </p:spPr>
      </p:pic>
      <p:pic>
        <p:nvPicPr>
          <p:cNvPr id="13" name="Graphic 12" descr="Hospital with solid fill">
            <a:extLst>
              <a:ext uri="{FF2B5EF4-FFF2-40B4-BE49-F238E27FC236}">
                <a16:creationId xmlns:a16="http://schemas.microsoft.com/office/drawing/2014/main" id="{1A653193-8E16-A48D-AC34-E689DFCB5A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5685" y="5314734"/>
            <a:ext cx="914400" cy="914400"/>
          </a:xfrm>
          <a:prstGeom prst="rect">
            <a:avLst/>
          </a:prstGeom>
        </p:spPr>
      </p:pic>
      <p:pic>
        <p:nvPicPr>
          <p:cNvPr id="15" name="Graphic 14" descr="Schoolhouse outline">
            <a:extLst>
              <a:ext uri="{FF2B5EF4-FFF2-40B4-BE49-F238E27FC236}">
                <a16:creationId xmlns:a16="http://schemas.microsoft.com/office/drawing/2014/main" id="{A9CAA3E0-F0A8-05A5-E1FB-159E635E60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2" y="530365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2DF8AC-06E3-0728-17D5-5FDC08B73C3B}"/>
              </a:ext>
            </a:extLst>
          </p:cNvPr>
          <p:cNvSpPr txBox="1"/>
          <p:nvPr/>
        </p:nvSpPr>
        <p:spPr>
          <a:xfrm>
            <a:off x="4010129" y="5617164"/>
            <a:ext cx="59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807E34DD-D592-DC60-4863-1D2A4237A35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164" t="12686" r="32876" b="10798"/>
          <a:stretch>
            <a:fillRect/>
          </a:stretch>
        </p:blipFill>
        <p:spPr>
          <a:xfrm rot="10337630">
            <a:off x="2003557" y="4619762"/>
            <a:ext cx="766301" cy="821356"/>
          </a:xfrm>
          <a:prstGeom prst="rect">
            <a:avLst/>
          </a:prstGeom>
        </p:spPr>
      </p:pic>
      <p:pic>
        <p:nvPicPr>
          <p:cNvPr id="20" name="Picture 19" descr="A black network icon with text&#10;&#10;AI-generated content may be incorrect.">
            <a:extLst>
              <a:ext uri="{FF2B5EF4-FFF2-40B4-BE49-F238E27FC236}">
                <a16:creationId xmlns:a16="http://schemas.microsoft.com/office/drawing/2014/main" id="{32628ACA-0A3C-898F-4735-AA68D879620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578" t="18839" r="31333" b="36089"/>
          <a:stretch>
            <a:fillRect/>
          </a:stretch>
        </p:blipFill>
        <p:spPr>
          <a:xfrm>
            <a:off x="3245897" y="4762993"/>
            <a:ext cx="781405" cy="650597"/>
          </a:xfrm>
          <a:prstGeom prst="rect">
            <a:avLst/>
          </a:prstGeom>
        </p:spPr>
      </p:pic>
      <p:pic>
        <p:nvPicPr>
          <p:cNvPr id="24" name="Picture 23" descr="A blue and black logo&#10;&#10;AI-generated content may be incorrect.">
            <a:extLst>
              <a:ext uri="{FF2B5EF4-FFF2-40B4-BE49-F238E27FC236}">
                <a16:creationId xmlns:a16="http://schemas.microsoft.com/office/drawing/2014/main" id="{B523B610-CB05-2A8A-2266-3AE0FA4DE5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5699" y="2944100"/>
            <a:ext cx="1095599" cy="109559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01788E3-40E9-E372-20C4-983172439562}"/>
              </a:ext>
            </a:extLst>
          </p:cNvPr>
          <p:cNvSpPr txBox="1"/>
          <p:nvPr/>
        </p:nvSpPr>
        <p:spPr>
          <a:xfrm>
            <a:off x="2524228" y="2429748"/>
            <a:ext cx="2362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Pre-trained </a:t>
            </a:r>
          </a:p>
          <a:p>
            <a:pPr algn="ctr"/>
            <a:r>
              <a:rPr lang="en-US" sz="1600" dirty="0"/>
              <a:t>Foundation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867B44-2BFE-D6EA-8BEC-AE8E09485F8A}"/>
              </a:ext>
            </a:extLst>
          </p:cNvPr>
          <p:cNvSpPr txBox="1"/>
          <p:nvPr/>
        </p:nvSpPr>
        <p:spPr>
          <a:xfrm>
            <a:off x="5258912" y="4780437"/>
            <a:ext cx="837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Domain </a:t>
            </a:r>
          </a:p>
          <a:p>
            <a:pPr algn="ctr"/>
            <a:r>
              <a:rPr lang="en-US" sz="1400" dirty="0"/>
              <a:t>Models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9D28D7-8BCB-7A98-C4CE-C6B648702D53}"/>
              </a:ext>
            </a:extLst>
          </p:cNvPr>
          <p:cNvCxnSpPr/>
          <p:nvPr/>
        </p:nvCxnSpPr>
        <p:spPr>
          <a:xfrm flipV="1">
            <a:off x="1644043" y="6250575"/>
            <a:ext cx="4259454" cy="3601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C35227D-27E8-1694-87DB-0B29A58E628A}"/>
              </a:ext>
            </a:extLst>
          </p:cNvPr>
          <p:cNvCxnSpPr>
            <a:cxnSpLocks/>
            <a:stCxn id="3" idx="0"/>
            <a:endCxn id="5" idx="1"/>
          </p:cNvCxnSpPr>
          <p:nvPr/>
        </p:nvCxnSpPr>
        <p:spPr>
          <a:xfrm flipV="1">
            <a:off x="994338" y="2164591"/>
            <a:ext cx="1991120" cy="351632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76392C3-A061-923C-24E4-C0D64DEBA6A6}"/>
              </a:ext>
            </a:extLst>
          </p:cNvPr>
          <p:cNvCxnSpPr>
            <a:cxnSpLocks/>
            <a:stCxn id="6" idx="0"/>
            <a:endCxn id="5" idx="3"/>
          </p:cNvCxnSpPr>
          <p:nvPr/>
        </p:nvCxnSpPr>
        <p:spPr>
          <a:xfrm flipH="1" flipV="1">
            <a:off x="4284868" y="2164591"/>
            <a:ext cx="2268334" cy="346025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149F4DF-633B-BE78-6B8F-2E91FC1F3987}"/>
              </a:ext>
            </a:extLst>
          </p:cNvPr>
          <p:cNvGrpSpPr/>
          <p:nvPr/>
        </p:nvGrpSpPr>
        <p:grpSpPr>
          <a:xfrm rot="18269777">
            <a:off x="2079086" y="3979542"/>
            <a:ext cx="1144534" cy="276999"/>
            <a:chOff x="801073" y="4033708"/>
            <a:chExt cx="1144534" cy="27699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CA59082-4C44-69B6-1A5F-317535A4183E}"/>
                </a:ext>
              </a:extLst>
            </p:cNvPr>
            <p:cNvCxnSpPr>
              <a:cxnSpLocks/>
            </p:cNvCxnSpPr>
            <p:nvPr/>
          </p:nvCxnSpPr>
          <p:spPr>
            <a:xfrm>
              <a:off x="801073" y="4301176"/>
              <a:ext cx="1122890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935115-A6CA-0DF5-AE22-0AB261EAB72B}"/>
                </a:ext>
              </a:extLst>
            </p:cNvPr>
            <p:cNvSpPr txBox="1"/>
            <p:nvPr/>
          </p:nvSpPr>
          <p:spPr>
            <a:xfrm>
              <a:off x="829596" y="4033708"/>
              <a:ext cx="11160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Enhancement</a:t>
              </a: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D3AEB06-7989-89D3-9592-DF760F0D7C9E}"/>
              </a:ext>
            </a:extLst>
          </p:cNvPr>
          <p:cNvCxnSpPr>
            <a:cxnSpLocks/>
          </p:cNvCxnSpPr>
          <p:nvPr/>
        </p:nvCxnSpPr>
        <p:spPr>
          <a:xfrm flipV="1">
            <a:off x="3568171" y="4150963"/>
            <a:ext cx="0" cy="53063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BD7924-29C7-F526-4D51-5C54FE017FAE}"/>
              </a:ext>
            </a:extLst>
          </p:cNvPr>
          <p:cNvCxnSpPr>
            <a:cxnSpLocks/>
          </p:cNvCxnSpPr>
          <p:nvPr/>
        </p:nvCxnSpPr>
        <p:spPr>
          <a:xfrm>
            <a:off x="3705700" y="4180311"/>
            <a:ext cx="0" cy="53210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EFE7B1A-5CB8-F8DA-2D11-4C4A74E6E67A}"/>
              </a:ext>
            </a:extLst>
          </p:cNvPr>
          <p:cNvCxnSpPr>
            <a:cxnSpLocks/>
          </p:cNvCxnSpPr>
          <p:nvPr/>
        </p:nvCxnSpPr>
        <p:spPr>
          <a:xfrm flipH="1" flipV="1">
            <a:off x="4161298" y="3942517"/>
            <a:ext cx="498465" cy="70156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C468D2D-D372-4CFD-C24D-532A45284100}"/>
              </a:ext>
            </a:extLst>
          </p:cNvPr>
          <p:cNvCxnSpPr>
            <a:cxnSpLocks/>
          </p:cNvCxnSpPr>
          <p:nvPr/>
        </p:nvCxnSpPr>
        <p:spPr>
          <a:xfrm>
            <a:off x="4282707" y="3794148"/>
            <a:ext cx="614405" cy="82687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8782B64-7D0F-6AFB-B764-83B3E0FAC914}"/>
              </a:ext>
            </a:extLst>
          </p:cNvPr>
          <p:cNvGrpSpPr/>
          <p:nvPr/>
        </p:nvGrpSpPr>
        <p:grpSpPr>
          <a:xfrm rot="18316537">
            <a:off x="2449798" y="4242943"/>
            <a:ext cx="1086289" cy="276999"/>
            <a:chOff x="2202544" y="3925643"/>
            <a:chExt cx="1086289" cy="276999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5934160-5D3D-AE0B-32AE-FC62A3802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2544" y="3955306"/>
              <a:ext cx="1049347" cy="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E40F47C-C1EC-DA07-3242-C681EB10799D}"/>
                </a:ext>
              </a:extLst>
            </p:cNvPr>
            <p:cNvSpPr txBox="1"/>
            <p:nvPr/>
          </p:nvSpPr>
          <p:spPr>
            <a:xfrm>
              <a:off x="2456554" y="3925643"/>
              <a:ext cx="8322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Guidance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888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185C-C5A1-EA9F-F64F-37BB0859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75DC6-9B6F-1F07-7A0D-674043C54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5869" cy="4351338"/>
          </a:xfrm>
        </p:spPr>
        <p:txBody>
          <a:bodyPr/>
          <a:lstStyle/>
          <a:p>
            <a:r>
              <a:rPr lang="en-US" dirty="0"/>
              <a:t>Sites have heterogeneous study designs, populations, and data types.</a:t>
            </a:r>
          </a:p>
          <a:p>
            <a:r>
              <a:rPr lang="en-US" dirty="0"/>
              <a:t>GLM: straight</a:t>
            </a:r>
            <a:r>
              <a:rPr lang="en-US" altLang="zh-CN" dirty="0"/>
              <a:t>-forward to</a:t>
            </a:r>
            <a:r>
              <a:rPr lang="en-US" dirty="0"/>
              <a:t> implement, highly interpretable, and computationally light resource efficiency, but do not generalize well</a:t>
            </a:r>
          </a:p>
          <a:p>
            <a:r>
              <a:rPr lang="en-US" dirty="0"/>
              <a:t>FM can capture shared structure and improve cross-site robustness</a:t>
            </a:r>
          </a:p>
          <a:p>
            <a:r>
              <a:rPr lang="en-US" dirty="0"/>
              <a:t>Parameter-efficient tuning enables each site to adapt models locally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49247-D37F-8135-CF6D-0C13D37D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6955-1740-0ABB-B1D9-0251669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679A-4DF7-9CD3-2973-6D2BBF78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experiments using public FM architectures show improved generalization with domain-specific fine-tuning</a:t>
            </a:r>
          </a:p>
          <a:p>
            <a:r>
              <a:rPr lang="en-US" dirty="0"/>
              <a:t>Synthetic data generated from </a:t>
            </a:r>
            <a:r>
              <a:rPr lang="en-US" dirty="0" err="1"/>
              <a:t>RePORT</a:t>
            </a:r>
            <a:r>
              <a:rPr lang="en-US" dirty="0"/>
              <a:t> data shows stable convergence for GLMs</a:t>
            </a:r>
          </a:p>
          <a:p>
            <a:r>
              <a:rPr lang="en-US" dirty="0"/>
              <a:t>Early literature demonstrates federated FMs outperform site-specific models in sparse or imbalanced settings.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B5851-CB4B-403B-1FCE-B46EA745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9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66BA-391E-E7BA-D62A-ABB93D94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BFF5-1299-417E-E82E-4E187837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CD82B-BA8A-2A4D-F456-31BFA0446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830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Federated GLM</a:t>
                </a:r>
              </a:p>
              <a:p>
                <a:pPr lvl="1"/>
                <a:r>
                  <a:rPr lang="en-US" dirty="0"/>
                  <a:t>utilize the hybrid federated framework </a:t>
                </a:r>
                <a:r>
                  <a:rPr lang="en-US" dirty="0" err="1"/>
                  <a:t>HyFed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Federated FM</a:t>
                </a:r>
              </a:p>
              <a:p>
                <a:pPr lvl="1"/>
                <a:r>
                  <a:rPr lang="en-US" dirty="0"/>
                  <a:t>Initialize/Distribute: The central server initializes the global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/>
                  <a:t>) and distribute copies to selected local client nodes.</a:t>
                </a:r>
              </a:p>
              <a:p>
                <a:pPr lvl="1"/>
                <a:r>
                  <a:rPr lang="en-US" dirty="0"/>
                  <a:t>Local Training: Each client node trains the model on its local, private dataset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for a specified number of local epochs. Raw data remains local.</a:t>
                </a:r>
              </a:p>
              <a:p>
                <a:pPr lvl="1"/>
                <a:r>
                  <a:rPr lang="en-US" dirty="0"/>
                  <a:t>Upload Updates: Each client sends its updated model parameters (weights or gradients) back to the central server.</a:t>
                </a:r>
              </a:p>
              <a:p>
                <a:pPr lvl="1"/>
                <a:r>
                  <a:rPr lang="en-US" dirty="0"/>
                  <a:t>Global Aggregation: The central server receives and aggregates the updates, typically using Federated Averaging (</a:t>
                </a:r>
                <a:r>
                  <a:rPr lang="en-US" dirty="0" err="1"/>
                  <a:t>FedAvg</a:t>
                </a:r>
                <a:r>
                  <a:rPr lang="en-US" dirty="0"/>
                  <a:t>) or Federated Proximal (</a:t>
                </a:r>
                <a:r>
                  <a:rPr lang="en-US" dirty="0" err="1"/>
                  <a:t>FedProx</a:t>
                </a:r>
                <a:r>
                  <a:rPr lang="en-US" dirty="0"/>
                  <a:t>) to calculate a new global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Parameter-Efficient Training (</a:t>
                </a:r>
                <a:r>
                  <a:rPr lang="en-US" dirty="0" err="1"/>
                  <a:t>LoRA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Cross-Site Evaluation: </a:t>
                </a:r>
                <a:r>
                  <a:rPr lang="en-US" sz="1900" dirty="0"/>
                  <a:t>Compare FM, DM, and GLM performance on standardized validation tasks (e.g., Long TB endpoints).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CD82B-BA8A-2A4D-F456-31BFA0446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8309"/>
              </a:xfrm>
              <a:blipFill>
                <a:blip r:embed="rId2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A1E36-E585-F6F5-DC83-344903EF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89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6D5D-9DD3-2CFB-BCB6-DB36E64A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6E46-E1A2-A376-62A4-40254FEB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6B638-3756-6222-76D8-77E08360A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Federated GLM toolkit deployable across all </a:t>
            </a:r>
            <a:r>
              <a:rPr lang="en-US" dirty="0" err="1"/>
              <a:t>RePORT</a:t>
            </a:r>
            <a:r>
              <a:rPr lang="en-US" dirty="0"/>
              <a:t> sites.</a:t>
            </a:r>
          </a:p>
          <a:p>
            <a:r>
              <a:rPr lang="en-US" dirty="0"/>
              <a:t>Federated foundation model for TB immunology and clinical metadata.</a:t>
            </a:r>
          </a:p>
          <a:p>
            <a:r>
              <a:rPr lang="en-US" dirty="0"/>
              <a:t>Robust cross-site predictions with improved fairness and generalization.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D4CCB-D33F-F403-69CD-E5BC450D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C59F-6C0D-5151-7FCE-95568924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3 – LLM-Generated Code + Safe Execution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BB094-3443-446E-9967-13A3F633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181D039A-4F98-BDC8-D2D0-F664F919A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87" y="2222496"/>
            <a:ext cx="5838855" cy="4087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07E4A7-839A-E3CC-51BD-F4FEAF659D52}"/>
              </a:ext>
            </a:extLst>
          </p:cNvPr>
          <p:cNvSpPr txBox="1"/>
          <p:nvPr/>
        </p:nvSpPr>
        <p:spPr>
          <a:xfrm>
            <a:off x="574286" y="1502221"/>
            <a:ext cx="10724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Overview: </a:t>
            </a:r>
            <a:r>
              <a:rPr lang="en-US" sz="2000" dirty="0"/>
              <a:t>Build an LLM-Driven Code Generator &amp; Executor Embedded in the Federated System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AA7-ECE3-58BD-2FAB-CE5B8ACB01F0}"/>
              </a:ext>
            </a:extLst>
          </p:cNvPr>
          <p:cNvSpPr txBox="1"/>
          <p:nvPr/>
        </p:nvSpPr>
        <p:spPr>
          <a:xfrm>
            <a:off x="6681846" y="2150778"/>
            <a:ext cx="53745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Purpose: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analysis burden on sites (mirroring the Federated DB goal of reducing repeated requests).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LLMs to enable user-driven analysis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harmonize queries using standardized metadata.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Capabilities: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 investigator requests (“run logistic regression on Long TB”).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privacy-safe, site-local Python/R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code inside containerized, sandboxed compute nodes.</a:t>
            </a:r>
          </a:p>
        </p:txBody>
      </p:sp>
    </p:spTree>
    <p:extLst>
      <p:ext uri="{BB962C8B-B14F-4D97-AF65-F5344CB8AC3E}">
        <p14:creationId xmlns:p14="http://schemas.microsoft.com/office/powerpoint/2010/main" val="143661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E934-9F30-3BFA-EC51-47E43E19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3 – LLM-Generated Code + Safe Execution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42167-016C-F997-CA2C-EEDE20D1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7D8477-2860-CFCE-6586-A8D540A1C019}"/>
              </a:ext>
            </a:extLst>
          </p:cNvPr>
          <p:cNvSpPr/>
          <p:nvPr/>
        </p:nvSpPr>
        <p:spPr>
          <a:xfrm>
            <a:off x="3303104" y="1954178"/>
            <a:ext cx="5223356" cy="8908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User Interaction Layer</a:t>
            </a:r>
          </a:p>
          <a:p>
            <a:r>
              <a:rPr lang="en-US" sz="1600" dirty="0"/>
              <a:t>User provides analysis request</a:t>
            </a:r>
          </a:p>
          <a:p>
            <a:r>
              <a:rPr lang="en-US" sz="1600" dirty="0"/>
              <a:t>LLM interprets query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ED0580-E2AF-E571-B904-358A520FB49C}"/>
              </a:ext>
            </a:extLst>
          </p:cNvPr>
          <p:cNvSpPr/>
          <p:nvPr/>
        </p:nvSpPr>
        <p:spPr>
          <a:xfrm>
            <a:off x="3303103" y="3335274"/>
            <a:ext cx="5223357" cy="8908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Code Generator</a:t>
            </a:r>
          </a:p>
          <a:p>
            <a:r>
              <a:rPr lang="en-US" sz="1600" dirty="0"/>
              <a:t>LLM refines analysis plan and </a:t>
            </a:r>
          </a:p>
          <a:p>
            <a:r>
              <a:rPr lang="en-US" sz="1600" dirty="0"/>
              <a:t>generates metadata-aware code</a:t>
            </a:r>
          </a:p>
        </p:txBody>
      </p:sp>
      <p:pic>
        <p:nvPicPr>
          <p:cNvPr id="7" name="Picture 6" descr="A black and white computer screen&#10;&#10;AI-generated content may be incorrect.">
            <a:extLst>
              <a:ext uri="{FF2B5EF4-FFF2-40B4-BE49-F238E27FC236}">
                <a16:creationId xmlns:a16="http://schemas.microsoft.com/office/drawing/2014/main" id="{B64FA56C-0663-F786-74BB-5D5C186D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41"/>
          <a:stretch>
            <a:fillRect/>
          </a:stretch>
        </p:blipFill>
        <p:spPr>
          <a:xfrm>
            <a:off x="7205866" y="3374051"/>
            <a:ext cx="822738" cy="790854"/>
          </a:xfrm>
          <a:prstGeom prst="rect">
            <a:avLst/>
          </a:prstGeom>
        </p:spPr>
      </p:pic>
      <p:pic>
        <p:nvPicPr>
          <p:cNvPr id="8" name="Picture 7" descr="A black and white icon of a computer&#10;&#10;AI-generated content may be incorrect.">
            <a:extLst>
              <a:ext uri="{FF2B5EF4-FFF2-40B4-BE49-F238E27FC236}">
                <a16:creationId xmlns:a16="http://schemas.microsoft.com/office/drawing/2014/main" id="{EF57F6CD-6F6D-9097-94E5-4475AF64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51" t="20916" r="29923" b="7925"/>
          <a:stretch>
            <a:fillRect/>
          </a:stretch>
        </p:blipFill>
        <p:spPr>
          <a:xfrm>
            <a:off x="7281925" y="2042267"/>
            <a:ext cx="746679" cy="746712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FD1243-4341-F6C5-1060-442736EFFFA7}"/>
              </a:ext>
            </a:extLst>
          </p:cNvPr>
          <p:cNvSpPr/>
          <p:nvPr/>
        </p:nvSpPr>
        <p:spPr>
          <a:xfrm>
            <a:off x="3283225" y="4678683"/>
            <a:ext cx="5243249" cy="122760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0" rtlCol="0" anchor="ctr"/>
          <a:lstStyle/>
          <a:p>
            <a:pPr>
              <a:spcAft>
                <a:spcPts val="600"/>
              </a:spcAft>
            </a:pPr>
            <a:r>
              <a:rPr lang="en-US" sz="2000" b="1" dirty="0"/>
              <a:t>Master Node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Code Review &amp; Privacy Check</a:t>
            </a:r>
          </a:p>
          <a:p>
            <a:r>
              <a:rPr lang="en-US" sz="1600" dirty="0"/>
              <a:t>Send approved execution tasks to </a:t>
            </a:r>
          </a:p>
          <a:p>
            <a:r>
              <a:rPr lang="en-US" sz="1600" dirty="0"/>
              <a:t>Local Node</a:t>
            </a:r>
          </a:p>
        </p:txBody>
      </p:sp>
      <p:pic>
        <p:nvPicPr>
          <p:cNvPr id="10" name="Picture 9" descr="A set of black and white icons&#10;&#10;AI-generated content may be incorrect.">
            <a:extLst>
              <a:ext uri="{FF2B5EF4-FFF2-40B4-BE49-F238E27FC236}">
                <a16:creationId xmlns:a16="http://schemas.microsoft.com/office/drawing/2014/main" id="{806BB749-38B3-881A-B6FB-013CD05512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20" t="6884" r="37819" b="52698"/>
          <a:stretch>
            <a:fillRect/>
          </a:stretch>
        </p:blipFill>
        <p:spPr>
          <a:xfrm>
            <a:off x="6673722" y="4730481"/>
            <a:ext cx="491284" cy="600222"/>
          </a:xfrm>
          <a:prstGeom prst="rect">
            <a:avLst/>
          </a:prstGeom>
        </p:spPr>
      </p:pic>
      <p:pic>
        <p:nvPicPr>
          <p:cNvPr id="11" name="Picture 10" descr="A black and white computer icons&#10;&#10;AI-generated content may be incorrect.">
            <a:extLst>
              <a:ext uri="{FF2B5EF4-FFF2-40B4-BE49-F238E27FC236}">
                <a16:creationId xmlns:a16="http://schemas.microsoft.com/office/drawing/2014/main" id="{14813296-6AEB-225B-477B-DDA8C8138F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57" t="15907" r="53956" b="14261"/>
          <a:stretch>
            <a:fillRect/>
          </a:stretch>
        </p:blipFill>
        <p:spPr>
          <a:xfrm>
            <a:off x="7256118" y="5244186"/>
            <a:ext cx="722234" cy="66210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52E11BE-78AA-DA28-B9F1-FC9D2896CDDF}"/>
              </a:ext>
            </a:extLst>
          </p:cNvPr>
          <p:cNvSpPr/>
          <p:nvPr/>
        </p:nvSpPr>
        <p:spPr>
          <a:xfrm rot="10800000">
            <a:off x="2386352" y="1919403"/>
            <a:ext cx="714649" cy="39868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Governance, Logging &amp; Safety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CBA8F5-67BA-27A5-C8F6-D49DA30AD6FA}"/>
              </a:ext>
            </a:extLst>
          </p:cNvPr>
          <p:cNvCxnSpPr>
            <a:cxnSpLocks/>
          </p:cNvCxnSpPr>
          <p:nvPr/>
        </p:nvCxnSpPr>
        <p:spPr>
          <a:xfrm>
            <a:off x="5340626" y="2845041"/>
            <a:ext cx="0" cy="4902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A0BDD4-CDEE-7E30-72DC-2309D888F41C}"/>
              </a:ext>
            </a:extLst>
          </p:cNvPr>
          <p:cNvCxnSpPr>
            <a:cxnSpLocks/>
          </p:cNvCxnSpPr>
          <p:nvPr/>
        </p:nvCxnSpPr>
        <p:spPr>
          <a:xfrm>
            <a:off x="5370444" y="4236522"/>
            <a:ext cx="0" cy="4421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D9E551-C74F-2B06-D22E-8E8117838A0A}"/>
              </a:ext>
            </a:extLst>
          </p:cNvPr>
          <p:cNvSpPr txBox="1"/>
          <p:nvPr/>
        </p:nvSpPr>
        <p:spPr>
          <a:xfrm>
            <a:off x="1354786" y="6142993"/>
            <a:ext cx="8276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End-to-end workflow for the LLM-based federated analysis system.</a:t>
            </a:r>
          </a:p>
        </p:txBody>
      </p:sp>
    </p:spTree>
    <p:extLst>
      <p:ext uri="{BB962C8B-B14F-4D97-AF65-F5344CB8AC3E}">
        <p14:creationId xmlns:p14="http://schemas.microsoft.com/office/powerpoint/2010/main" val="134266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7651-B4EC-24CC-2DFD-C5B31F83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7C40-908F-C82C-6F78-3AF22522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6103-0D5E-5BFA-E3D0-7F3FD619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Sites frequently receive repeated requests for the same analyses, causing bottlenecks.</a:t>
            </a:r>
          </a:p>
          <a:p>
            <a:r>
              <a:rPr lang="en-US" dirty="0"/>
              <a:t>Analysts need a flexible way to run new models while preserving privacy and consistency.</a:t>
            </a:r>
          </a:p>
          <a:p>
            <a:r>
              <a:rPr lang="en-US" dirty="0"/>
              <a:t>LLM-based code generation can automate statistical analyses directly at the site.</a:t>
            </a:r>
          </a:p>
          <a:p>
            <a:r>
              <a:rPr lang="en-US" dirty="0"/>
              <a:t>Governance/safety checks ensure only privacy-safe code is executed.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BEA15-A814-A94C-8F69-03B7D8D7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FA07-F306-3153-61A4-22AC109B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2A27-F02A-3F2A-80A6-4B2ADF78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18539-0C66-3389-C4AF-92E6A347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prototypes show LLMs can translate investigator requests into accurate analysis plans.</a:t>
            </a:r>
          </a:p>
          <a:p>
            <a:r>
              <a:rPr lang="en-US" dirty="0"/>
              <a:t>Early sandbox tests confirm safe execution inside containerized local environments.</a:t>
            </a:r>
          </a:p>
          <a:p>
            <a:r>
              <a:rPr lang="en-US" dirty="0"/>
              <a:t>Metadata-aware prompting enables automatic harmonization of variable names and coding standards.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87386-203D-C99E-6E69-66001E0F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13D8-3168-BB19-0E6E-3358DDD5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497B-8860-3D49-4783-55C0795A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859A-CAE5-DD57-9901-54C8445BE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interaction layer</a:t>
            </a:r>
          </a:p>
          <a:p>
            <a:pPr lvl="1"/>
            <a:r>
              <a:rPr lang="en-US" dirty="0"/>
              <a:t>Build interface for natural-language analysis request.</a:t>
            </a:r>
          </a:p>
          <a:p>
            <a:r>
              <a:rPr lang="en-US" dirty="0"/>
              <a:t>Code generation layer</a:t>
            </a:r>
          </a:p>
          <a:p>
            <a:pPr lvl="1"/>
            <a:r>
              <a:rPr lang="en-US" dirty="0"/>
              <a:t>LLM creates R/Python code aligned with the shared data dictionary</a:t>
            </a:r>
          </a:p>
          <a:p>
            <a:pPr lvl="1"/>
            <a:r>
              <a:rPr lang="en-US" dirty="0"/>
              <a:t>Master node performs privacy, safety checks.</a:t>
            </a:r>
          </a:p>
          <a:p>
            <a:r>
              <a:rPr lang="en-US" dirty="0"/>
              <a:t>Secure execution layer</a:t>
            </a:r>
          </a:p>
          <a:p>
            <a:pPr lvl="1"/>
            <a:r>
              <a:rPr lang="en-US" dirty="0"/>
              <a:t>Approved code is run inside local site containers (sandboxed compute).</a:t>
            </a:r>
          </a:p>
          <a:p>
            <a:pPr lvl="1"/>
            <a:r>
              <a:rPr lang="en-US" dirty="0"/>
              <a:t>Results only are returned to the master node.</a:t>
            </a:r>
          </a:p>
          <a:p>
            <a:r>
              <a:rPr lang="en-US" dirty="0"/>
              <a:t>Governance &amp; Logging</a:t>
            </a:r>
          </a:p>
          <a:p>
            <a:pPr lvl="1"/>
            <a:r>
              <a:rPr lang="en-US" dirty="0"/>
              <a:t>Full audit trail for requests, generated code, execution metadata.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8EF44-4F05-E41F-0A49-A1F51667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1216-19FA-FAB3-1D4D-5287742A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1137-5859-0340-4420-CDA0DFE6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C92A-6B06-3122-ACCB-6D81912C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fully integrated “LLM-assisted federated analysis” system.</a:t>
            </a:r>
          </a:p>
          <a:p>
            <a:r>
              <a:rPr lang="en-US" dirty="0"/>
              <a:t>Significantly reduced analysis burden on sites.</a:t>
            </a:r>
          </a:p>
          <a:p>
            <a:r>
              <a:rPr lang="en-US" dirty="0"/>
              <a:t>Safely generated, reproducible code that follows shared metadata standards.</a:t>
            </a:r>
          </a:p>
          <a:p>
            <a:r>
              <a:rPr lang="en-US" dirty="0"/>
              <a:t>A novel, human-interpretable governance workflow for AI-generated analysis within a federated network.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ABD1C-DDB0-FAB3-8996-C81A82AA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89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95FC-444C-042E-F03C-E947828C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2A3A-721F-4F48-4B68-F5B2D444B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Do we want a federated system?</a:t>
            </a:r>
          </a:p>
          <a:p>
            <a:r>
              <a:rPr lang="en-US" sz="3200" dirty="0"/>
              <a:t>Its functionally possible – is it conceptually possible? </a:t>
            </a:r>
          </a:p>
          <a:p>
            <a:pPr lvl="1"/>
            <a:r>
              <a:rPr lang="en-US" sz="2800" dirty="0"/>
              <a:t>Problems with adoption?</a:t>
            </a:r>
          </a:p>
          <a:p>
            <a:r>
              <a:rPr lang="en-US" sz="3200" dirty="0"/>
              <a:t>Will it really streamline projects/analyses?</a:t>
            </a:r>
          </a:p>
          <a:p>
            <a:r>
              <a:rPr lang="en-US" sz="3200" dirty="0"/>
              <a:t>Where to do we get funding? </a:t>
            </a:r>
          </a:p>
          <a:p>
            <a:pPr lvl="1"/>
            <a:r>
              <a:rPr lang="en-US" sz="2800" dirty="0"/>
              <a:t>How much funding will determine scope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8FEBE-50DE-0372-B122-040FD0F0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4A778-01F1-4838-BD6E-74A42FA48A09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4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Y7SpFHX5"/>
  <p:tag name="ARTICULATE_DESIGN_ID_REPORT INTERNATIONAL" val="ZXFnpY6j"/>
  <p:tag name="ARTICULATE_SLIDE_COUNT" val="2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RePORT International">
  <a:themeElements>
    <a:clrScheme name="Report International">
      <a:dk1>
        <a:sysClr val="windowText" lastClr="000000"/>
      </a:dk1>
      <a:lt1>
        <a:sysClr val="window" lastClr="FFFFFF"/>
      </a:lt1>
      <a:dk2>
        <a:srgbClr val="44546A"/>
      </a:dk2>
      <a:lt2>
        <a:srgbClr val="BDBFC1"/>
      </a:lt2>
      <a:accent1>
        <a:srgbClr val="52C8E9"/>
      </a:accent1>
      <a:accent2>
        <a:srgbClr val="E90006"/>
      </a:accent2>
      <a:accent3>
        <a:srgbClr val="617CEC"/>
      </a:accent3>
      <a:accent4>
        <a:srgbClr val="4FF080"/>
      </a:accent4>
      <a:accent5>
        <a:srgbClr val="FFCC54"/>
      </a:accent5>
      <a:accent6>
        <a:srgbClr val="FFAA54"/>
      </a:accent6>
      <a:hlink>
        <a:srgbClr val="617CEC"/>
      </a:hlink>
      <a:folHlink>
        <a:srgbClr val="FF6B54"/>
      </a:folHlink>
    </a:clrScheme>
    <a:fontScheme name="RePOR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PORT_International_PowerPoint_Template_v0_1" id="{1357B0D4-2AB1-4796-A21D-EA3ED87325B0}" vid="{1EACFB0A-F7CE-4944-9EBB-27DE95C8F9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6379</TotalTime>
  <Words>1241</Words>
  <Application>Microsoft Macintosh PowerPoint</Application>
  <PresentationFormat>Widescreen</PresentationFormat>
  <Paragraphs>176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Montserrat</vt:lpstr>
      <vt:lpstr>RePORT International</vt:lpstr>
      <vt:lpstr>RePORT Federated Learning Initiative</vt:lpstr>
      <vt:lpstr>What Is  Federated Learning</vt:lpstr>
      <vt:lpstr>Key  Features</vt:lpstr>
      <vt:lpstr>Architectures -- Hierarchical</vt:lpstr>
      <vt:lpstr>Architectures -- Decentralized</vt:lpstr>
      <vt:lpstr>Why Pilot a  Federated Database?</vt:lpstr>
      <vt:lpstr>Pilot  Goals</vt:lpstr>
      <vt:lpstr>Aim 1 – Build Federated Learning System for RePORT</vt:lpstr>
      <vt:lpstr>PowerPoint Presentation</vt:lpstr>
      <vt:lpstr>Rationale</vt:lpstr>
      <vt:lpstr>Preliminary Data</vt:lpstr>
      <vt:lpstr>Experimental approach</vt:lpstr>
      <vt:lpstr>Expected outcome</vt:lpstr>
      <vt:lpstr>Aim 2 – Federated GLM &amp; Foundation Models</vt:lpstr>
      <vt:lpstr>Rationale</vt:lpstr>
      <vt:lpstr>Prelim Data</vt:lpstr>
      <vt:lpstr>Experimental approach</vt:lpstr>
      <vt:lpstr>Expected outcome</vt:lpstr>
      <vt:lpstr>Aim 3 – LLM-Generated Code + Safe Execution Layer</vt:lpstr>
      <vt:lpstr>Aim 3 – LLM-Generated Code + Safe Execution Layer</vt:lpstr>
      <vt:lpstr>Rationale</vt:lpstr>
      <vt:lpstr>Prelim Data</vt:lpstr>
      <vt:lpstr>Experimental approach</vt:lpstr>
      <vt:lpstr>Expected outcome</vt:lpstr>
      <vt:lpstr>Key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Federated Database Initiative</dc:title>
  <dc:creator>TBRICC</dc:creator>
  <cp:lastModifiedBy>Xutao Wang</cp:lastModifiedBy>
  <cp:revision>146</cp:revision>
  <dcterms:created xsi:type="dcterms:W3CDTF">2023-07-19T15:47:28Z</dcterms:created>
  <dcterms:modified xsi:type="dcterms:W3CDTF">2025-11-24T21:09:37Z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436A158E-D560-4A03-BCC2-36DAA16F9BB4</vt:lpwstr>
  </property>
  <property fmtid="{D5CDD505-2E9C-101B-9397-08002B2CF9AE}" pid="3" name="ArticulatePath">
    <vt:lpwstr>RePORT_International_TBRU_v0_1</vt:lpwstr>
  </property>
</Properties>
</file>